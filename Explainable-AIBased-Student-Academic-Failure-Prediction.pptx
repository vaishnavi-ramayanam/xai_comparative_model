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Tomorrow Bold"/>
      <p:regular r:id="rId201314"/>
    </p:embeddedFont>
    <p:embeddedFont>
      <p:font typeface="Tomorrow"/>
      <p:regular r:id="rId201315"/>
    </p:embeddedFont>
    <p:embeddedFont>
      <p:font typeface="Tomorrow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6458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Explainable AI‑Based Student Academic Failure Prediction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1213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Project Review‑2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9087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Machine Learning + SHAP for Early Academic Risk Detection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705920"/>
            <a:ext cx="6296860" cy="2387402"/>
          </a:xfrm>
          <a:prstGeom prst="roundRect">
            <a:avLst>
              <a:gd name="adj" fmla="val 1188"/>
            </a:avLst>
          </a:prstGeom>
          <a:solidFill>
            <a:srgbClr val="FCFCFC"/>
          </a:solidFill>
          <a:ln w="25399">
            <a:solidFill>
              <a:srgbClr val="D6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881" y="392033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Student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4329013"/>
            <a:ext cx="5868047" cy="154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Student Name: 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Naru Mokshita - 2420030551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Ramayanam vaishnavi - 2420030371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Thota Usha Sri Sai - 2420030033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79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Statement &amp; Objective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62102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Problem: Identify students at risk of academic failure before final outcomes.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Objective: Build a classification model that predicts failure and explains individual predictions with SHAP.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Target use: Early‑warning support for educators and advisors.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Definition: fail = 1 if G3 &lt; 10; pass = 0 if G3 ≥ 10. Grade scale: 0–20.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1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Dataset &amp; Features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47802"/>
            <a:ext cx="4070744" cy="1636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1645345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Primary sources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2117824"/>
            <a:ext cx="633674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UCI Student Performance Dataset (ID 320) — Mathematics &amp; Portuguese records.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xAPI Educational Dataset (learning management system behavioral data)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 University Learning Analytics Dataset (OULAD) (large-scale higher education learning analytics)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4234557"/>
            <a:ext cx="6336745" cy="185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Key features: demographics, attendance, study time, prior grades (G1, G2), behavioral attributes.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Target: G3 (final grade). G3 excluded from predictors to avoid leakage.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Harmonization: Additional academic datasets can be mapped to a common schema.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67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Methodology — ML Pipeline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361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Emphasis: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651151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Stratified train/test split to preserve class balance.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Preprocessing fitted only on training data — no data leakage.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Recall prioritized for at‑risk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94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System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55359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High‑level flow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68638"/>
            <a:ext cx="10868745" cy="2109788"/>
          </a:xfrm>
          <a:prstGeom prst="roundRect">
            <a:avLst>
              <a:gd name="adj" fmla="val 1344"/>
            </a:avLst>
          </a:prstGeom>
          <a:solidFill>
            <a:srgbClr val="F0EAEA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068638"/>
            <a:ext cx="2717137" cy="2109788"/>
          </a:xfrm>
          <a:custGeom>
            <a:avLst/>
            <a:gdLst/>
            <a:ahLst/>
            <a:cxnLst/>
            <a:rect l="l" t="t" r="r" b="b"/>
            <a:pathLst>
              <a:path w="2717137" h="2109788">
                <a:moveTo>
                  <a:pt x="23627" y="0"/>
                </a:moveTo>
                <a:lnTo>
                  <a:pt x="2717137" y="0"/>
                </a:lnTo>
                <a:lnTo>
                  <a:pt x="2717137" y="2109788"/>
                </a:lnTo>
                <a:lnTo>
                  <a:pt x="23627" y="2109788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F0EAEA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257649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Input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666331"/>
            <a:ext cx="233912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Student records (G1, G2, sociodemographic, behavior)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Personal Inputs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78612" y="3068638"/>
            <a:ext cx="2717236" cy="2109788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9" name="Shape 7"/>
          <p:cNvSpPr/>
          <p:nvPr/>
        </p:nvSpPr>
        <p:spPr>
          <a:xfrm>
            <a:off x="3378612" y="3068638"/>
            <a:ext cx="25399" cy="2109788"/>
          </a:xfrm>
          <a:prstGeom prst="roundRect">
            <a:avLst>
              <a:gd name="adj" fmla="val 50001"/>
            </a:avLst>
          </a:prstGeom>
          <a:solidFill>
            <a:srgbClr val="D6D0D0"/>
          </a:solidFill>
          <a:ln/>
        </p:spPr>
      </p:sp>
      <p:sp>
        <p:nvSpPr>
          <p:cNvPr id="10" name="Text 8"/>
          <p:cNvSpPr/>
          <p:nvPr/>
        </p:nvSpPr>
        <p:spPr>
          <a:xfrm>
            <a:off x="3567619" y="3257649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Preprocessing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567619" y="3666331"/>
            <a:ext cx="23392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Imputation • Encoding • Scaling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95848" y="3068638"/>
            <a:ext cx="2717137" cy="2109788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3068638"/>
            <a:ext cx="25399" cy="2109788"/>
          </a:xfrm>
          <a:prstGeom prst="roundRect">
            <a:avLst>
              <a:gd name="adj" fmla="val 50001"/>
            </a:avLst>
          </a:prstGeom>
          <a:solidFill>
            <a:srgbClr val="D6D0D0"/>
          </a:solidFill>
          <a:ln/>
        </p:spPr>
      </p:sp>
      <p:sp>
        <p:nvSpPr>
          <p:cNvPr id="14" name="Text 12"/>
          <p:cNvSpPr/>
          <p:nvPr/>
        </p:nvSpPr>
        <p:spPr>
          <a:xfrm>
            <a:off x="6284854" y="3257649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Models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84854" y="3666331"/>
            <a:ext cx="233912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Ensemble &amp; single classifiers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812984" y="3068638"/>
            <a:ext cx="2717236" cy="2109788"/>
          </a:xfrm>
          <a:custGeom>
            <a:avLst/>
            <a:gdLst/>
            <a:ahLst/>
            <a:cxnLst/>
            <a:rect l="l" t="t" r="r" b="b"/>
            <a:pathLst>
              <a:path w="2717236" h="2109788">
                <a:moveTo>
                  <a:pt x="0" y="0"/>
                </a:moveTo>
                <a:lnTo>
                  <a:pt x="2693609" y="0"/>
                </a:lnTo>
                <a:arcTo hR="23628" wR="23627" stAng="16200000" swAng="5400000"/>
                <a:lnTo>
                  <a:pt x="2717236" y="2086160"/>
                </a:lnTo>
                <a:arcTo hR="23628" wR="23627" stAng="0" swAng="5400000"/>
                <a:lnTo>
                  <a:pt x="0" y="2109788"/>
                </a:lnTo>
                <a:lnTo>
                  <a:pt x="0" y="0"/>
                </a:lnTo>
                <a:close/>
              </a:path>
            </a:pathLst>
          </a:custGeom>
          <a:solidFill>
            <a:srgbClr val="F0EA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812984" y="3068638"/>
            <a:ext cx="25399" cy="2109788"/>
          </a:xfrm>
          <a:prstGeom prst="roundRect">
            <a:avLst>
              <a:gd name="adj" fmla="val 50001"/>
            </a:avLst>
          </a:prstGeom>
          <a:solidFill>
            <a:srgbClr val="D6D0D0"/>
          </a:solidFill>
          <a:ln/>
        </p:spPr>
      </p:sp>
      <p:sp>
        <p:nvSpPr>
          <p:cNvPr id="18" name="Text 16"/>
          <p:cNvSpPr/>
          <p:nvPr/>
        </p:nvSpPr>
        <p:spPr>
          <a:xfrm>
            <a:off x="9001991" y="3257649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Output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001991" y="3666331"/>
            <a:ext cx="23392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Risk score + SHAP explanations → Advisor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906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Tools &amp; Technologies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12056"/>
            <a:ext cx="369085" cy="369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25315"/>
            <a:ext cx="53622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Python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025154"/>
            <a:ext cx="53622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Development and orchestration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7879" y="1212056"/>
            <a:ext cx="369085" cy="3690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7879" y="1725315"/>
            <a:ext cx="53623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Pandas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167879" y="2025154"/>
            <a:ext cx="53623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wrangling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466181"/>
            <a:ext cx="369085" cy="3690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2979440"/>
            <a:ext cx="53622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NumPy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61475" y="3279279"/>
            <a:ext cx="53622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Numerical operations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7879" y="2466181"/>
            <a:ext cx="369085" cy="3690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7879" y="2979440"/>
            <a:ext cx="53623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Scikit‑learn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167879" y="3279279"/>
            <a:ext cx="53623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Preprocessing, metrics, baseline models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720306"/>
            <a:ext cx="369085" cy="3690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233565"/>
            <a:ext cx="53622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XGBoost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661475" y="4533404"/>
            <a:ext cx="53622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Gradient boosting classifier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7879" y="3720306"/>
            <a:ext cx="369085" cy="36909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67879" y="4233565"/>
            <a:ext cx="53623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CatBoost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6167879" y="4533404"/>
            <a:ext cx="53623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Categorical‑aware boosting</a:t>
            </a:r>
            <a:endParaRPr lang="en-US" sz="11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974431"/>
            <a:ext cx="369085" cy="36909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487690"/>
            <a:ext cx="53622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SHAP</a:t>
            </a:r>
            <a:endParaRPr lang="en-US" sz="1450" dirty="0"/>
          </a:p>
        </p:txBody>
      </p:sp>
      <p:sp>
        <p:nvSpPr>
          <p:cNvPr id="23" name="Text 14"/>
          <p:cNvSpPr/>
          <p:nvPr/>
        </p:nvSpPr>
        <p:spPr>
          <a:xfrm>
            <a:off x="661475" y="5787529"/>
            <a:ext cx="53622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Model interpretability (global &amp; local)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67879" y="4974431"/>
            <a:ext cx="369085" cy="36909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67879" y="5487690"/>
            <a:ext cx="53623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Jupyter</a:t>
            </a:r>
            <a:endParaRPr lang="en-US" sz="1450" dirty="0"/>
          </a:p>
        </p:txBody>
      </p:sp>
      <p:sp>
        <p:nvSpPr>
          <p:cNvPr id="26" name="Text 16"/>
          <p:cNvSpPr/>
          <p:nvPr/>
        </p:nvSpPr>
        <p:spPr>
          <a:xfrm>
            <a:off x="6167879" y="5787529"/>
            <a:ext cx="53623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Experimentation &amp; reporting</a:t>
            </a:r>
            <a:endParaRPr lang="en-US" sz="1150" dirty="0"/>
          </a:p>
        </p:txBody>
      </p:sp>
      <p:sp>
        <p:nvSpPr>
          <p:cNvPr id="27" name="Text 17"/>
          <p:cNvSpPr/>
          <p:nvPr/>
        </p:nvSpPr>
        <p:spPr>
          <a:xfrm>
            <a:off x="661475" y="6127651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Visualization: Matplotlib / Seaborn for plots and diagnostic charts.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7286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Machine Learning Models Compared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37631"/>
            <a:ext cx="629686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Logistic Regression — interpretable baseline.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Decision Tree — simple rule inspection.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Random Forest — robust ensemble baseline.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XGBoost — gradient boosting (high performance option).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CatBoost — handles categorical features natively.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626670"/>
            <a:ext cx="6296860" cy="1058366"/>
          </a:xfrm>
          <a:prstGeom prst="roundRect">
            <a:avLst>
              <a:gd name="adj" fmla="val 2679"/>
            </a:avLst>
          </a:prstGeom>
          <a:solidFill>
            <a:srgbClr val="E6E6E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89436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4862909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Evaluation metrics: Accuracy, Precision, Recall (priority), F1, ROC‑AUC.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75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Implementation — Stages &amp; Code 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02879"/>
            <a:ext cx="582419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Concise pipeline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038846"/>
            <a:ext cx="5214609" cy="1647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Load &amp; harmonize datasets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Clean, validate, define target (G3 &lt; 10 → 1)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Build preprocessing pipeline (fit on train only)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Train multiple classifiers; compute predicted probabilities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Evaluate; select best model; compute SHAP values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1961" y="1641574"/>
            <a:ext cx="5214609" cy="4395391"/>
          </a:xfrm>
          <a:prstGeom prst="roundRect">
            <a:avLst>
              <a:gd name="adj" fmla="val 615"/>
            </a:avLst>
          </a:prstGeom>
          <a:solidFill>
            <a:srgbClr val="EFEFEF"/>
          </a:solidFill>
          <a:ln/>
        </p:spPr>
      </p:sp>
      <p:sp>
        <p:nvSpPr>
          <p:cNvPr id="6" name="Text 4"/>
          <p:cNvSpPr/>
          <p:nvPr/>
        </p:nvSpPr>
        <p:spPr>
          <a:xfrm>
            <a:off x="6538054" y="1821656"/>
            <a:ext cx="4782423" cy="4035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Pseudo‑code (readable)
data = load_datasets()
data = harmonize_schema(data)
X, y = define_features_and_target(data) # G3 excluded from X
pipeline = make_pipeline(impute, encode, scale)
X_train, X_test, y_train, y_test = stratified_split(X,y)
pipeline.fit(X_train)
model.fit(pipeline.transform(X_train), y_train)
probs = model.predict_proba(pipeline.transform(X_test))
shap_values = shap.Explainer(model).shap_values(pipeline.transform(sample))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849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Results &amp; Performance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65746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Comparison table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89013"/>
            <a:ext cx="8785402" cy="3682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640189"/>
            <a:ext cx="10868745" cy="67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1300"/>
              </a:spcAft>
              <a:buNone/>
            </a:pP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Model selection rule: weighted combination of ROC‑AUC, F1, and Recall — prioritize Recall to reduce missed at‑risk students.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Explainable AI — SHAP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504281"/>
            <a:ext cx="639607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Key points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2916634"/>
            <a:ext cx="5786491" cy="231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SHAP attributes each prediction to feature contributions (additive feature attributions).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Positive SHAP values → increase predicted failure risk; negative → decrease risk.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Supports global interpretation (feature importance) and local explanations (individual student).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One‑hot categorical contributions are aggregated back into readable feature labels for advisors.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9358" y="1493044"/>
            <a:ext cx="4657112" cy="46572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2026-09-15T15:53:05Z</dcterms:created>
  <dcterms:modified xsi:type="dcterms:W3CDTF">2026-09-15T15:53:05Z</dcterms:modified>
</cp:coreProperties>
</file>