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9" r:id="rId4"/>
    <p:sldId id="267" r:id="rId5"/>
    <p:sldId id="258" r:id="rId6"/>
    <p:sldId id="269" r:id="rId7"/>
    <p:sldId id="262" r:id="rId8"/>
    <p:sldId id="270" r:id="rId9"/>
    <p:sldId id="271" r:id="rId10"/>
  </p:sldIdLst>
  <p:sldSz cx="9144000" cy="5143500" type="screen16x9"/>
  <p:notesSz cx="5143500" cy="9144000"/>
  <p:embeddedFontLst>
    <p:embeddedFont>
      <p:font typeface="Gelasio" panose="020B0604020202020204" charset="0"/>
      <p:regular r:id="rId12"/>
    </p:embeddedFont>
    <p:embeddedFont>
      <p:font typeface="Lato" panose="020F0502020204030203" pitchFamily="34" charset="0"/>
      <p:regular r:id="rId13"/>
      <p:bold r:id="rId14"/>
      <p:italic r:id="rId15"/>
      <p:boldItalic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07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1B403-9BFE-98CF-87A3-4CDF7378A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1C3EE-A81F-03A1-827D-27AADDEAC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11B77-DF1B-5612-8AA8-B93ADDBDEB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BC1209-2E2A-03EA-E006-98C90F002BB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63811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DA79-FA15-C4BC-F447-85BFFB3FF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3DAAC-887A-47D9-522E-428AC0766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4F6DFC-2265-B45D-4EC2-36D507EA03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CD31BF-3DA1-F356-9F0E-47BB1E49162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46648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597173"/>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312F2B"/>
                </a:solidFill>
                <a:latin typeface="Gelasio" pitchFamily="34" charset="0"/>
                <a:ea typeface="Gelasio" pitchFamily="34" charset="-122"/>
                <a:cs typeface="Gelasio" pitchFamily="34" charset="-120"/>
              </a:rPr>
              <a:t>Explainable AI Techniques for Student Academic Performance Analytics</a:t>
            </a:r>
            <a:endParaRPr lang="en-US" sz="2750" dirty="0"/>
          </a:p>
        </p:txBody>
      </p:sp>
      <p:sp>
        <p:nvSpPr>
          <p:cNvPr id="4" name="Text 1"/>
          <p:cNvSpPr/>
          <p:nvPr/>
        </p:nvSpPr>
        <p:spPr>
          <a:xfrm>
            <a:off x="496119" y="2138735"/>
            <a:ext cx="517996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Lato" pitchFamily="34" charset="0"/>
                <a:ea typeface="Lato" pitchFamily="34" charset="-122"/>
                <a:cs typeface="Lato" pitchFamily="34" charset="-120"/>
              </a:rPr>
              <a:t>Project Review-1</a:t>
            </a:r>
            <a:endParaRPr lang="en-US" sz="11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525018"/>
            <a:ext cx="2290465" cy="1053182"/>
          </a:xfrm>
          <a:prstGeom prst="rect">
            <a:avLst/>
          </a:prstGeom>
        </p:spPr>
      </p:pic>
      <p:sp>
        <p:nvSpPr>
          <p:cNvPr id="6" name="Text 2"/>
          <p:cNvSpPr/>
          <p:nvPr/>
        </p:nvSpPr>
        <p:spPr>
          <a:xfrm>
            <a:off x="642640" y="2671539"/>
            <a:ext cx="1997422" cy="221456"/>
          </a:xfrm>
          <a:prstGeom prst="rect">
            <a:avLst/>
          </a:prstGeom>
          <a:noFill/>
          <a:ln/>
        </p:spPr>
        <p:txBody>
          <a:bodyPr wrap="none" lIns="0" tIns="0" rIns="0" bIns="0" rtlCol="0" anchor="t"/>
          <a:lstStyle/>
          <a:p>
            <a:pPr marL="0" indent="0" algn="l">
              <a:lnSpc>
                <a:spcPct val="104000"/>
              </a:lnSpc>
              <a:buNone/>
            </a:pPr>
            <a:endParaRPr lang="en-US" sz="1350" dirty="0"/>
          </a:p>
        </p:txBody>
      </p:sp>
      <p:sp>
        <p:nvSpPr>
          <p:cNvPr id="7" name="Text 3"/>
          <p:cNvSpPr/>
          <p:nvPr/>
        </p:nvSpPr>
        <p:spPr>
          <a:xfrm>
            <a:off x="642640" y="2725846"/>
            <a:ext cx="1882846" cy="453628"/>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Lato" pitchFamily="34" charset="0"/>
                <a:ea typeface="Lato" pitchFamily="34" charset="-122"/>
                <a:cs typeface="Lato" pitchFamily="34" charset="-120"/>
              </a:rPr>
              <a:t>N Mokshita - 2420030551</a:t>
            </a:r>
          </a:p>
          <a:p>
            <a:pPr marL="0" indent="0" algn="l">
              <a:lnSpc>
                <a:spcPct val="133000"/>
              </a:lnSpc>
              <a:buNone/>
            </a:pPr>
            <a:r>
              <a:rPr lang="en-US" sz="1100" dirty="0">
                <a:solidFill>
                  <a:srgbClr val="272525"/>
                </a:solidFill>
                <a:latin typeface="Lato" pitchFamily="34" charset="0"/>
                <a:ea typeface="Lato" pitchFamily="34" charset="-122"/>
                <a:cs typeface="Lato" pitchFamily="34" charset="-120"/>
              </a:rPr>
              <a:t>Vaishnavi R- 2420030371</a:t>
            </a:r>
          </a:p>
          <a:p>
            <a:pPr marL="0" indent="0" algn="l">
              <a:lnSpc>
                <a:spcPct val="133000"/>
              </a:lnSpc>
              <a:buNone/>
            </a:pPr>
            <a:r>
              <a:rPr lang="en-US" sz="1100" dirty="0">
                <a:solidFill>
                  <a:srgbClr val="272525"/>
                </a:solidFill>
                <a:latin typeface="Lato" pitchFamily="34" charset="0"/>
                <a:ea typeface="Lato" pitchFamily="34" charset="-122"/>
                <a:cs typeface="Lato" pitchFamily="34" charset="-120"/>
              </a:rPr>
              <a:t>Usha Sri Sai - 2420030033</a:t>
            </a:r>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28342" y="2525018"/>
            <a:ext cx="2290539" cy="1053182"/>
          </a:xfrm>
          <a:prstGeom prst="rect">
            <a:avLst/>
          </a:prstGeom>
        </p:spPr>
      </p:pic>
      <p:sp>
        <p:nvSpPr>
          <p:cNvPr id="9" name="Text 4"/>
          <p:cNvSpPr/>
          <p:nvPr/>
        </p:nvSpPr>
        <p:spPr>
          <a:xfrm>
            <a:off x="3074863" y="2671539"/>
            <a:ext cx="1997497" cy="221456"/>
          </a:xfrm>
          <a:prstGeom prst="rect">
            <a:avLst/>
          </a:prstGeom>
          <a:noFill/>
          <a:ln/>
        </p:spPr>
        <p:txBody>
          <a:bodyPr wrap="none" lIns="0" tIns="0" rIns="0" bIns="0" rtlCol="0" anchor="t"/>
          <a:lstStyle/>
          <a:p>
            <a:pPr marL="0" indent="0" algn="l">
              <a:lnSpc>
                <a:spcPct val="104000"/>
              </a:lnSpc>
              <a:buNone/>
            </a:pPr>
            <a:r>
              <a:rPr lang="en-US" sz="1350" dirty="0">
                <a:solidFill>
                  <a:srgbClr val="272525"/>
                </a:solidFill>
                <a:latin typeface="Gelasio" pitchFamily="34" charset="0"/>
                <a:ea typeface="Gelasio" pitchFamily="34" charset="-122"/>
                <a:cs typeface="Gelasio" pitchFamily="34" charset="-120"/>
              </a:rPr>
              <a:t>Dept</a:t>
            </a:r>
            <a:endParaRPr lang="en-US" sz="1350" dirty="0"/>
          </a:p>
        </p:txBody>
      </p:sp>
      <p:sp>
        <p:nvSpPr>
          <p:cNvPr id="10" name="Text 5"/>
          <p:cNvSpPr/>
          <p:nvPr/>
        </p:nvSpPr>
        <p:spPr>
          <a:xfrm>
            <a:off x="3074863" y="2978051"/>
            <a:ext cx="199749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Lato" pitchFamily="34" charset="0"/>
                <a:ea typeface="Lato" pitchFamily="34" charset="-122"/>
                <a:cs typeface="Lato" pitchFamily="34" charset="-120"/>
              </a:rPr>
              <a:t>Computer Science &amp; Engineering</a:t>
            </a:r>
            <a:endParaRPr lang="en-US" sz="11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3719959"/>
            <a:ext cx="4722763" cy="826368"/>
          </a:xfrm>
          <a:prstGeom prst="rect">
            <a:avLst/>
          </a:prstGeom>
        </p:spPr>
      </p:pic>
      <p:sp>
        <p:nvSpPr>
          <p:cNvPr id="12" name="Text 6"/>
          <p:cNvSpPr/>
          <p:nvPr/>
        </p:nvSpPr>
        <p:spPr>
          <a:xfrm>
            <a:off x="642640" y="3866480"/>
            <a:ext cx="4429720" cy="221456"/>
          </a:xfrm>
          <a:prstGeom prst="rect">
            <a:avLst/>
          </a:prstGeom>
          <a:noFill/>
          <a:ln/>
        </p:spPr>
        <p:txBody>
          <a:bodyPr wrap="none" lIns="0" tIns="0" rIns="0" bIns="0" rtlCol="0" anchor="t"/>
          <a:lstStyle/>
          <a:p>
            <a:pPr marL="0" indent="0" algn="l">
              <a:lnSpc>
                <a:spcPct val="104000"/>
              </a:lnSpc>
              <a:buNone/>
            </a:pPr>
            <a:r>
              <a:rPr lang="en-US" sz="1350" dirty="0">
                <a:solidFill>
                  <a:srgbClr val="272525"/>
                </a:solidFill>
                <a:latin typeface="Gelasio" pitchFamily="34" charset="0"/>
                <a:ea typeface="Gelasio" pitchFamily="34" charset="-122"/>
                <a:cs typeface="Gelasio" pitchFamily="34" charset="-120"/>
              </a:rPr>
              <a:t>Institution</a:t>
            </a:r>
            <a:endParaRPr lang="en-US" sz="1350" dirty="0"/>
          </a:p>
        </p:txBody>
      </p:sp>
      <p:sp>
        <p:nvSpPr>
          <p:cNvPr id="13" name="Text 7"/>
          <p:cNvSpPr/>
          <p:nvPr/>
        </p:nvSpPr>
        <p:spPr>
          <a:xfrm>
            <a:off x="642640" y="4172992"/>
            <a:ext cx="4429720"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Lato" pitchFamily="34" charset="0"/>
                <a:ea typeface="Lato" pitchFamily="34" charset="-122"/>
                <a:cs typeface="Lato" pitchFamily="34" charset="-120"/>
              </a:rPr>
              <a:t>KL University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482274"/>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312F2B"/>
                </a:solidFill>
                <a:latin typeface="Gelasio" pitchFamily="34" charset="0"/>
                <a:ea typeface="Gelasio" pitchFamily="34" charset="-122"/>
                <a:cs typeface="Gelasio" pitchFamily="34" charset="-120"/>
              </a:rPr>
              <a:t>Problem Statement</a:t>
            </a:r>
            <a:endParaRPr lang="en-US" sz="2750" dirty="0"/>
          </a:p>
        </p:txBody>
      </p:sp>
      <p:sp>
        <p:nvSpPr>
          <p:cNvPr id="3" name="Text 1"/>
          <p:cNvSpPr/>
          <p:nvPr/>
        </p:nvSpPr>
        <p:spPr>
          <a:xfrm>
            <a:off x="496119" y="1266326"/>
            <a:ext cx="8151763" cy="1055936"/>
          </a:xfrm>
          <a:prstGeom prst="rect">
            <a:avLst/>
          </a:prstGeom>
          <a:noFill/>
          <a:ln/>
        </p:spPr>
        <p:txBody>
          <a:bodyPr wrap="square" lIns="0" tIns="0" rIns="0" bIns="0" rtlCol="0" anchor="t">
            <a:noAutofit/>
          </a:bodyPr>
          <a:lstStyle/>
          <a:p>
            <a:pPr>
              <a:lnSpc>
                <a:spcPct val="133000"/>
              </a:lnSpc>
              <a:buSzPct val="100000"/>
            </a:pPr>
            <a:r>
              <a:rPr lang="en-IN" sz="1400" dirty="0"/>
              <a:t>Machine learning models for predicting student academic performance have achieved high predictive accuracy but often function as "black boxes," providing little insight into the factors driving their predictions . This lack of interpretability limits trust among educators and administrators, hindering the adoption of data-driven decision-making in educational settings . While Explainable AI (XAI) techniques such as SHAP and LIME have emerged to address this gap, there remains a need for comprehensive comparative evaluations of these techniques across multiple machine learning models and educational datasets to determine which approaches provide the most actionable and trustworthy explanations for diverse educational stakeholders .</a:t>
            </a:r>
            <a:endParaRPr lang="en-US" sz="1400" dirty="0"/>
          </a:p>
        </p:txBody>
      </p:sp>
      <p:sp>
        <p:nvSpPr>
          <p:cNvPr id="6" name="Rectangle 5">
            <a:extLst>
              <a:ext uri="{FF2B5EF4-FFF2-40B4-BE49-F238E27FC236}">
                <a16:creationId xmlns:a16="http://schemas.microsoft.com/office/drawing/2014/main" id="{FED4B7F6-BA8A-2E69-BDBB-5EDC0878F8B1}"/>
              </a:ext>
            </a:extLst>
          </p:cNvPr>
          <p:cNvSpPr/>
          <p:nvPr/>
        </p:nvSpPr>
        <p:spPr>
          <a:xfrm>
            <a:off x="7728857" y="4775200"/>
            <a:ext cx="1415143" cy="3683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84665" y="37257"/>
            <a:ext cx="8151763" cy="408384"/>
          </a:xfrm>
          <a:prstGeom prst="rect">
            <a:avLst/>
          </a:prstGeom>
          <a:noFill/>
          <a:ln/>
        </p:spPr>
        <p:txBody>
          <a:bodyPr wrap="none" lIns="0" tIns="0" rIns="0" bIns="0" rtlCol="0" anchor="t"/>
          <a:lstStyle/>
          <a:p>
            <a:pPr marL="0" indent="0" algn="l">
              <a:lnSpc>
                <a:spcPct val="104000"/>
              </a:lnSpc>
              <a:buNone/>
            </a:pPr>
            <a:r>
              <a:rPr lang="en-US" sz="2550" dirty="0">
                <a:solidFill>
                  <a:srgbClr val="312F2B"/>
                </a:solidFill>
                <a:latin typeface="Gelasio" pitchFamily="34" charset="0"/>
                <a:ea typeface="Gelasio" pitchFamily="34" charset="-122"/>
                <a:cs typeface="Gelasio" pitchFamily="34" charset="-120"/>
              </a:rPr>
              <a:t>Literature Survey</a:t>
            </a:r>
            <a:endParaRPr lang="en-US" sz="2550" dirty="0"/>
          </a:p>
        </p:txBody>
      </p:sp>
      <p:sp>
        <p:nvSpPr>
          <p:cNvPr id="35" name="Rectangle 34">
            <a:extLst>
              <a:ext uri="{FF2B5EF4-FFF2-40B4-BE49-F238E27FC236}">
                <a16:creationId xmlns:a16="http://schemas.microsoft.com/office/drawing/2014/main" id="{24ED119E-2296-AF3A-949D-2CACAD4C775A}"/>
              </a:ext>
            </a:extLst>
          </p:cNvPr>
          <p:cNvSpPr/>
          <p:nvPr/>
        </p:nvSpPr>
        <p:spPr>
          <a:xfrm>
            <a:off x="7728857" y="4775200"/>
            <a:ext cx="1415143" cy="3683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9" name="Table 38">
            <a:extLst>
              <a:ext uri="{FF2B5EF4-FFF2-40B4-BE49-F238E27FC236}">
                <a16:creationId xmlns:a16="http://schemas.microsoft.com/office/drawing/2014/main" id="{6587823A-92E5-3FE8-B89D-E99D94E22657}"/>
              </a:ext>
            </a:extLst>
          </p:cNvPr>
          <p:cNvGraphicFramePr>
            <a:graphicFrameLocks noGrp="1"/>
          </p:cNvGraphicFramePr>
          <p:nvPr>
            <p:extLst>
              <p:ext uri="{D42A27DB-BD31-4B8C-83A1-F6EECF244321}">
                <p14:modId xmlns:p14="http://schemas.microsoft.com/office/powerpoint/2010/main" val="526217209"/>
              </p:ext>
            </p:extLst>
          </p:nvPr>
        </p:nvGraphicFramePr>
        <p:xfrm>
          <a:off x="159658" y="445641"/>
          <a:ext cx="8897257" cy="4555970"/>
        </p:xfrm>
        <a:graphic>
          <a:graphicData uri="http://schemas.openxmlformats.org/drawingml/2006/table">
            <a:tbl>
              <a:tblPr firstRow="1" bandRow="1">
                <a:tableStyleId>{073A0DAA-6AF3-43AB-8588-CEC1D06C72B9}</a:tableStyleId>
              </a:tblPr>
              <a:tblGrid>
                <a:gridCol w="755479">
                  <a:extLst>
                    <a:ext uri="{9D8B030D-6E8A-4147-A177-3AD203B41FA5}">
                      <a16:colId xmlns:a16="http://schemas.microsoft.com/office/drawing/2014/main" val="400507781"/>
                    </a:ext>
                  </a:extLst>
                </a:gridCol>
                <a:gridCol w="2726274">
                  <a:extLst>
                    <a:ext uri="{9D8B030D-6E8A-4147-A177-3AD203B41FA5}">
                      <a16:colId xmlns:a16="http://schemas.microsoft.com/office/drawing/2014/main" val="2669156997"/>
                    </a:ext>
                  </a:extLst>
                </a:gridCol>
                <a:gridCol w="2707752">
                  <a:extLst>
                    <a:ext uri="{9D8B030D-6E8A-4147-A177-3AD203B41FA5}">
                      <a16:colId xmlns:a16="http://schemas.microsoft.com/office/drawing/2014/main" val="620748108"/>
                    </a:ext>
                  </a:extLst>
                </a:gridCol>
                <a:gridCol w="2707752">
                  <a:extLst>
                    <a:ext uri="{9D8B030D-6E8A-4147-A177-3AD203B41FA5}">
                      <a16:colId xmlns:a16="http://schemas.microsoft.com/office/drawing/2014/main" val="3754542236"/>
                    </a:ext>
                  </a:extLst>
                </a:gridCol>
              </a:tblGrid>
              <a:tr h="356116">
                <a:tc>
                  <a:txBody>
                    <a:bodyPr/>
                    <a:lstStyle/>
                    <a:p>
                      <a:r>
                        <a:rPr lang="en-IN" dirty="0" err="1"/>
                        <a:t>S.No</a:t>
                      </a:r>
                      <a:endParaRPr lang="en-IN" dirty="0"/>
                    </a:p>
                  </a:txBody>
                  <a:tcPr/>
                </a:tc>
                <a:tc>
                  <a:txBody>
                    <a:bodyPr/>
                    <a:lstStyle/>
                    <a:p>
                      <a:r>
                        <a:rPr lang="en-IN" dirty="0"/>
                        <a:t>Title</a:t>
                      </a:r>
                    </a:p>
                  </a:txBody>
                  <a:tcPr/>
                </a:tc>
                <a:tc>
                  <a:txBody>
                    <a:bodyPr/>
                    <a:lstStyle/>
                    <a:p>
                      <a:r>
                        <a:rPr lang="en-IN" dirty="0"/>
                        <a:t>Source</a:t>
                      </a:r>
                    </a:p>
                  </a:txBody>
                  <a:tcPr/>
                </a:tc>
                <a:tc>
                  <a:txBody>
                    <a:bodyPr/>
                    <a:lstStyle/>
                    <a:p>
                      <a:r>
                        <a:rPr lang="en-IN" dirty="0"/>
                        <a:t>Contributor</a:t>
                      </a:r>
                    </a:p>
                  </a:txBody>
                  <a:tcPr/>
                </a:tc>
                <a:extLst>
                  <a:ext uri="{0D108BD9-81ED-4DB2-BD59-A6C34878D82A}">
                    <a16:rowId xmlns:a16="http://schemas.microsoft.com/office/drawing/2014/main" val="3731582224"/>
                  </a:ext>
                </a:extLst>
              </a:tr>
              <a:tr h="892136">
                <a:tc>
                  <a:txBody>
                    <a:bodyPr/>
                    <a:lstStyle/>
                    <a:p>
                      <a:pPr algn="ctr"/>
                      <a:r>
                        <a:rPr lang="en-IN" sz="1600" dirty="0"/>
                        <a:t>1.</a:t>
                      </a:r>
                    </a:p>
                  </a:txBody>
                  <a:tcPr/>
                </a:tc>
                <a:tc>
                  <a:txBody>
                    <a:bodyPr/>
                    <a:lstStyle/>
                    <a:p>
                      <a:r>
                        <a:rPr lang="en-IN" sz="1050" kern="1200" dirty="0">
                          <a:solidFill>
                            <a:schemeClr val="dk1"/>
                          </a:solidFill>
                          <a:effectLst/>
                          <a:latin typeface="+mn-lt"/>
                          <a:ea typeface="+mn-ea"/>
                          <a:cs typeface="+mn-cs"/>
                        </a:rPr>
                        <a:t>"Model Interpretability in the Educational Data Mining Context: A Systematic Literature Mapping" – Carvalho, Mattos, &amp; Aguiar (2026)</a:t>
                      </a:r>
                      <a:endParaRPr lang="en-IN" sz="1050" dirty="0"/>
                    </a:p>
                  </a:txBody>
                  <a:tcPr/>
                </a:tc>
                <a:tc>
                  <a:txBody>
                    <a:bodyPr/>
                    <a:lstStyle/>
                    <a:p>
                      <a:pPr marL="0" algn="l" defTabSz="914400" rtl="0" eaLnBrk="1" latinLnBrk="0" hangingPunct="1"/>
                      <a:r>
                        <a:rPr lang="en-IN" sz="1050" kern="1200" dirty="0">
                          <a:solidFill>
                            <a:schemeClr val="dk1"/>
                          </a:solidFill>
                          <a:effectLst/>
                          <a:latin typeface="+mn-lt"/>
                          <a:ea typeface="+mn-ea"/>
                          <a:cs typeface="+mn-cs"/>
                        </a:rPr>
                        <a:t>Revista Brasileira de </a:t>
                      </a:r>
                      <a:r>
                        <a:rPr lang="en-IN" sz="1050" kern="1200" dirty="0" err="1">
                          <a:solidFill>
                            <a:schemeClr val="dk1"/>
                          </a:solidFill>
                          <a:effectLst/>
                          <a:latin typeface="+mn-lt"/>
                          <a:ea typeface="+mn-ea"/>
                          <a:cs typeface="+mn-cs"/>
                        </a:rPr>
                        <a:t>Informática</a:t>
                      </a:r>
                      <a:r>
                        <a:rPr lang="en-IN" sz="1050" kern="1200" dirty="0">
                          <a:solidFill>
                            <a:schemeClr val="dk1"/>
                          </a:solidFill>
                          <a:effectLst/>
                          <a:latin typeface="+mn-lt"/>
                          <a:ea typeface="+mn-ea"/>
                          <a:cs typeface="+mn-cs"/>
                        </a:rPr>
                        <a:t> </a:t>
                      </a:r>
                      <a:r>
                        <a:rPr lang="en-IN" sz="1050" kern="1200" dirty="0" err="1">
                          <a:solidFill>
                            <a:schemeClr val="dk1"/>
                          </a:solidFill>
                          <a:effectLst/>
                          <a:latin typeface="+mn-lt"/>
                          <a:ea typeface="+mn-ea"/>
                          <a:cs typeface="+mn-cs"/>
                        </a:rPr>
                        <a:t>na</a:t>
                      </a:r>
                      <a:r>
                        <a:rPr lang="en-IN" sz="1050" kern="1200" dirty="0">
                          <a:solidFill>
                            <a:schemeClr val="dk1"/>
                          </a:solidFill>
                          <a:effectLst/>
                          <a:latin typeface="+mn-lt"/>
                          <a:ea typeface="+mn-ea"/>
                          <a:cs typeface="+mn-cs"/>
                        </a:rPr>
                        <a:t> </a:t>
                      </a:r>
                      <a:r>
                        <a:rPr lang="en-IN" sz="1050" kern="1200" dirty="0" err="1">
                          <a:solidFill>
                            <a:schemeClr val="dk1"/>
                          </a:solidFill>
                          <a:effectLst/>
                          <a:latin typeface="+mn-lt"/>
                          <a:ea typeface="+mn-ea"/>
                          <a:cs typeface="+mn-cs"/>
                        </a:rPr>
                        <a:t>Educação</a:t>
                      </a:r>
                      <a:endParaRPr lang="en-IN" sz="1050" kern="1200" dirty="0">
                        <a:solidFill>
                          <a:schemeClr val="dk1"/>
                        </a:solidFill>
                        <a:effectLst/>
                        <a:latin typeface="+mn-lt"/>
                        <a:ea typeface="+mn-ea"/>
                        <a:cs typeface="+mn-cs"/>
                      </a:endParaRP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Found that interpretability is frequently addressed as a post-hoc component rather than as a core objective; identified need for comparative studies across different ML techniques </a:t>
                      </a:r>
                    </a:p>
                  </a:txBody>
                  <a:tcPr/>
                </a:tc>
                <a:extLst>
                  <a:ext uri="{0D108BD9-81ED-4DB2-BD59-A6C34878D82A}">
                    <a16:rowId xmlns:a16="http://schemas.microsoft.com/office/drawing/2014/main" val="514525862"/>
                  </a:ext>
                </a:extLst>
              </a:tr>
              <a:tr h="889648">
                <a:tc>
                  <a:txBody>
                    <a:bodyPr/>
                    <a:lstStyle/>
                    <a:p>
                      <a:pPr algn="ctr"/>
                      <a:r>
                        <a:rPr lang="en-IN" sz="1600" dirty="0"/>
                        <a:t>2.</a:t>
                      </a:r>
                    </a:p>
                  </a:txBody>
                  <a:tcPr/>
                </a:tc>
                <a:tc>
                  <a:txBody>
                    <a:bodyPr/>
                    <a:lstStyle/>
                    <a:p>
                      <a:r>
                        <a:rPr lang="en-IN" sz="1050" kern="1200" dirty="0">
                          <a:solidFill>
                            <a:schemeClr val="dk1"/>
                          </a:solidFill>
                          <a:effectLst/>
                          <a:latin typeface="+mn-lt"/>
                          <a:ea typeface="+mn-ea"/>
                          <a:cs typeface="+mn-cs"/>
                        </a:rPr>
                        <a:t>"Systematic Literature Review on Explainable Learning Analytics and Educational Data Mining" – IEEE Access (2025)</a:t>
                      </a: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IEEE Access (Vol. 13)</a:t>
                      </a: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Reviewed 212 studies; revealed researchers have increasingly adopted post-hoc methods—especially SHAP—from 2024 to 2025; identified gaps in quantifiable explainability metrics </a:t>
                      </a:r>
                    </a:p>
                  </a:txBody>
                  <a:tcPr/>
                </a:tc>
                <a:extLst>
                  <a:ext uri="{0D108BD9-81ED-4DB2-BD59-A6C34878D82A}">
                    <a16:rowId xmlns:a16="http://schemas.microsoft.com/office/drawing/2014/main" val="2131739848"/>
                  </a:ext>
                </a:extLst>
              </a:tr>
              <a:tr h="746517">
                <a:tc>
                  <a:txBody>
                    <a:bodyPr/>
                    <a:lstStyle/>
                    <a:p>
                      <a:pPr algn="ctr"/>
                      <a:r>
                        <a:rPr lang="en-IN" sz="1600" dirty="0"/>
                        <a:t>3.</a:t>
                      </a:r>
                    </a:p>
                  </a:txBody>
                  <a:tcPr/>
                </a:tc>
                <a:tc>
                  <a:txBody>
                    <a:bodyPr/>
                    <a:lstStyle/>
                    <a:p>
                      <a:r>
                        <a:rPr lang="en-IN" sz="1050" kern="1200" dirty="0">
                          <a:solidFill>
                            <a:schemeClr val="dk1"/>
                          </a:solidFill>
                          <a:effectLst/>
                          <a:latin typeface="+mn-lt"/>
                          <a:ea typeface="+mn-ea"/>
                          <a:cs typeface="+mn-cs"/>
                        </a:rPr>
                        <a:t>"Leveraging psychological data and transparent machine learning for student success prediction" – ScienceDirect (2026)</a:t>
                      </a: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ScienceDirect</a:t>
                      </a: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Evaluated six ML classifiers; XAI highlighted digital self-efficacy, perceived feedback usefulness, and discussion engagement as dominant predictors </a:t>
                      </a:r>
                    </a:p>
                  </a:txBody>
                  <a:tcPr/>
                </a:tc>
                <a:extLst>
                  <a:ext uri="{0D108BD9-81ED-4DB2-BD59-A6C34878D82A}">
                    <a16:rowId xmlns:a16="http://schemas.microsoft.com/office/drawing/2014/main" val="2951709144"/>
                  </a:ext>
                </a:extLst>
              </a:tr>
              <a:tr h="729219">
                <a:tc>
                  <a:txBody>
                    <a:bodyPr/>
                    <a:lstStyle/>
                    <a:p>
                      <a:pPr algn="ctr"/>
                      <a:r>
                        <a:rPr lang="en-IN" sz="1600" dirty="0"/>
                        <a:t>4.</a:t>
                      </a:r>
                    </a:p>
                  </a:txBody>
                  <a:tcPr/>
                </a:tc>
                <a:tc>
                  <a:txBody>
                    <a:bodyPr/>
                    <a:lstStyle/>
                    <a:p>
                      <a:r>
                        <a:rPr lang="en-IN" sz="1050" kern="1200" dirty="0">
                          <a:solidFill>
                            <a:schemeClr val="dk1"/>
                          </a:solidFill>
                          <a:effectLst/>
                          <a:latin typeface="+mn-lt"/>
                          <a:ea typeface="+mn-ea"/>
                          <a:cs typeface="+mn-cs"/>
                        </a:rPr>
                        <a:t>"Ensemble machine learning framework with SHAP and LIME for accurate early prediction of student success" – </a:t>
                      </a:r>
                      <a:r>
                        <a:rPr lang="en-IN" sz="1050" kern="1200" dirty="0" err="1">
                          <a:solidFill>
                            <a:schemeClr val="dk1"/>
                          </a:solidFill>
                          <a:effectLst/>
                          <a:latin typeface="+mn-lt"/>
                          <a:ea typeface="+mn-ea"/>
                          <a:cs typeface="+mn-cs"/>
                        </a:rPr>
                        <a:t>Almazroei</a:t>
                      </a:r>
                      <a:r>
                        <a:rPr lang="en-IN" sz="1050" kern="1200" dirty="0">
                          <a:solidFill>
                            <a:schemeClr val="dk1"/>
                          </a:solidFill>
                          <a:effectLst/>
                          <a:latin typeface="+mn-lt"/>
                          <a:ea typeface="+mn-ea"/>
                          <a:cs typeface="+mn-cs"/>
                        </a:rPr>
                        <a:t> (2026)</a:t>
                      </a: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Scientific Reports / NIH</a:t>
                      </a: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Integrated 7 datasets; </a:t>
                      </a:r>
                      <a:r>
                        <a:rPr lang="en-IN" sz="1050" kern="1200" dirty="0" err="1">
                          <a:solidFill>
                            <a:schemeClr val="dk1"/>
                          </a:solidFill>
                          <a:effectLst/>
                          <a:latin typeface="+mn-lt"/>
                          <a:ea typeface="+mn-ea"/>
                          <a:cs typeface="+mn-cs"/>
                        </a:rPr>
                        <a:t>XGBoost</a:t>
                      </a:r>
                      <a:r>
                        <a:rPr lang="en-IN" sz="1050" kern="1200" dirty="0">
                          <a:solidFill>
                            <a:schemeClr val="dk1"/>
                          </a:solidFill>
                          <a:effectLst/>
                          <a:latin typeface="+mn-lt"/>
                          <a:ea typeface="+mn-ea"/>
                          <a:cs typeface="+mn-cs"/>
                        </a:rPr>
                        <a:t> achieved 95.04% accuracy; SHAP/LIME revealed cumulative assessment performance and engagement as top predictors </a:t>
                      </a:r>
                    </a:p>
                  </a:txBody>
                  <a:tcPr/>
                </a:tc>
                <a:extLst>
                  <a:ext uri="{0D108BD9-81ED-4DB2-BD59-A6C34878D82A}">
                    <a16:rowId xmlns:a16="http://schemas.microsoft.com/office/drawing/2014/main" val="2831325665"/>
                  </a:ext>
                </a:extLst>
              </a:tr>
              <a:tr h="921612">
                <a:tc>
                  <a:txBody>
                    <a:bodyPr/>
                    <a:lstStyle/>
                    <a:p>
                      <a:pPr algn="ctr"/>
                      <a:r>
                        <a:rPr lang="en-IN" sz="1600" dirty="0"/>
                        <a:t>5.</a:t>
                      </a:r>
                    </a:p>
                  </a:txBody>
                  <a:tcPr/>
                </a:tc>
                <a:tc>
                  <a:txBody>
                    <a:bodyPr/>
                    <a:lstStyle/>
                    <a:p>
                      <a:r>
                        <a:rPr lang="en-IN" sz="1050" kern="1200" dirty="0">
                          <a:solidFill>
                            <a:schemeClr val="dk1"/>
                          </a:solidFill>
                          <a:effectLst/>
                          <a:latin typeface="+mn-lt"/>
                          <a:ea typeface="+mn-ea"/>
                          <a:cs typeface="+mn-cs"/>
                        </a:rPr>
                        <a:t>"Predicting student success with interpretable machine learning framework" – Frontiers in Education (2026)</a:t>
                      </a:r>
                    </a:p>
                  </a:txBody>
                  <a:tcPr/>
                </a:tc>
                <a:tc>
                  <a:txBody>
                    <a:bodyPr/>
                    <a:lstStyle/>
                    <a:p>
                      <a:pPr marL="0" algn="l" defTabSz="914400" rtl="0" eaLnBrk="1" latinLnBrk="0" hangingPunct="1">
                        <a:lnSpc>
                          <a:spcPct val="115000"/>
                        </a:lnSpc>
                        <a:buNone/>
                      </a:pPr>
                      <a:r>
                        <a:rPr lang="en-IN" sz="1050" kern="1200" dirty="0">
                          <a:solidFill>
                            <a:schemeClr val="dk1"/>
                          </a:solidFill>
                          <a:effectLst/>
                          <a:latin typeface="+mn-lt"/>
                          <a:ea typeface="+mn-ea"/>
                          <a:cs typeface="+mn-cs"/>
                        </a:rPr>
                        <a:t>Frontiers</a:t>
                      </a:r>
                    </a:p>
                  </a:txBody>
                  <a:tcPr marL="152400" marR="152400" marT="101600" marB="101600"/>
                </a:tc>
                <a:tc>
                  <a:txBody>
                    <a:bodyPr/>
                    <a:lstStyle/>
                    <a:p>
                      <a:pPr marL="0" algn="l" defTabSz="914400" rtl="0" eaLnBrk="1" latinLnBrk="0" hangingPunct="1">
                        <a:lnSpc>
                          <a:spcPct val="115000"/>
                        </a:lnSpc>
                        <a:buNone/>
                      </a:pPr>
                      <a:r>
                        <a:rPr lang="en-IN" sz="1050" kern="1200" dirty="0" err="1">
                          <a:solidFill>
                            <a:schemeClr val="dk1"/>
                          </a:solidFill>
                          <a:effectLst/>
                          <a:latin typeface="+mn-lt"/>
                          <a:ea typeface="+mn-ea"/>
                          <a:cs typeface="+mn-cs"/>
                        </a:rPr>
                        <a:t>CatBoost</a:t>
                      </a:r>
                      <a:r>
                        <a:rPr lang="en-IN" sz="1050" kern="1200" dirty="0">
                          <a:solidFill>
                            <a:schemeClr val="dk1"/>
                          </a:solidFill>
                          <a:effectLst/>
                          <a:latin typeface="+mn-lt"/>
                          <a:ea typeface="+mn-ea"/>
                          <a:cs typeface="+mn-cs"/>
                        </a:rPr>
                        <a:t> achieved 88.8% balanced accuracy; XAI enabled global and individual-level interpretation; emphasized socioeconomic factors </a:t>
                      </a:r>
                    </a:p>
                  </a:txBody>
                  <a:tcPr marL="152400" marR="0" marT="101600" marB="101600"/>
                </a:tc>
                <a:extLst>
                  <a:ext uri="{0D108BD9-81ED-4DB2-BD59-A6C34878D82A}">
                    <a16:rowId xmlns:a16="http://schemas.microsoft.com/office/drawing/2014/main" val="111773457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CD36B-62B7-5714-A63B-7893BAE7D58E}"/>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1BFF5181-A8A1-E63C-BDD8-41B743BE70B3}"/>
              </a:ext>
            </a:extLst>
          </p:cNvPr>
          <p:cNvSpPr/>
          <p:nvPr/>
        </p:nvSpPr>
        <p:spPr>
          <a:xfrm>
            <a:off x="7728857" y="4775200"/>
            <a:ext cx="1415143" cy="3683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9" name="Table 38">
            <a:extLst>
              <a:ext uri="{FF2B5EF4-FFF2-40B4-BE49-F238E27FC236}">
                <a16:creationId xmlns:a16="http://schemas.microsoft.com/office/drawing/2014/main" id="{F74375C5-BA53-304C-781C-D0262EE58368}"/>
              </a:ext>
            </a:extLst>
          </p:cNvPr>
          <p:cNvGraphicFramePr>
            <a:graphicFrameLocks noGrp="1"/>
          </p:cNvGraphicFramePr>
          <p:nvPr>
            <p:extLst>
              <p:ext uri="{D42A27DB-BD31-4B8C-83A1-F6EECF244321}">
                <p14:modId xmlns:p14="http://schemas.microsoft.com/office/powerpoint/2010/main" val="3570744697"/>
              </p:ext>
            </p:extLst>
          </p:nvPr>
        </p:nvGraphicFramePr>
        <p:xfrm>
          <a:off x="123371" y="234615"/>
          <a:ext cx="8897257" cy="4724735"/>
        </p:xfrm>
        <a:graphic>
          <a:graphicData uri="http://schemas.openxmlformats.org/drawingml/2006/table">
            <a:tbl>
              <a:tblPr firstRow="1" bandRow="1">
                <a:tableStyleId>{073A0DAA-6AF3-43AB-8588-CEC1D06C72B9}</a:tableStyleId>
              </a:tblPr>
              <a:tblGrid>
                <a:gridCol w="755479">
                  <a:extLst>
                    <a:ext uri="{9D8B030D-6E8A-4147-A177-3AD203B41FA5}">
                      <a16:colId xmlns:a16="http://schemas.microsoft.com/office/drawing/2014/main" val="400507781"/>
                    </a:ext>
                  </a:extLst>
                </a:gridCol>
                <a:gridCol w="2726274">
                  <a:extLst>
                    <a:ext uri="{9D8B030D-6E8A-4147-A177-3AD203B41FA5}">
                      <a16:colId xmlns:a16="http://schemas.microsoft.com/office/drawing/2014/main" val="2669156997"/>
                    </a:ext>
                  </a:extLst>
                </a:gridCol>
                <a:gridCol w="2707752">
                  <a:extLst>
                    <a:ext uri="{9D8B030D-6E8A-4147-A177-3AD203B41FA5}">
                      <a16:colId xmlns:a16="http://schemas.microsoft.com/office/drawing/2014/main" val="620748108"/>
                    </a:ext>
                  </a:extLst>
                </a:gridCol>
                <a:gridCol w="2707752">
                  <a:extLst>
                    <a:ext uri="{9D8B030D-6E8A-4147-A177-3AD203B41FA5}">
                      <a16:colId xmlns:a16="http://schemas.microsoft.com/office/drawing/2014/main" val="3754542236"/>
                    </a:ext>
                  </a:extLst>
                </a:gridCol>
              </a:tblGrid>
              <a:tr h="432770">
                <a:tc>
                  <a:txBody>
                    <a:bodyPr/>
                    <a:lstStyle/>
                    <a:p>
                      <a:r>
                        <a:rPr lang="en-IN" dirty="0" err="1"/>
                        <a:t>S.No</a:t>
                      </a:r>
                      <a:endParaRPr lang="en-IN" dirty="0"/>
                    </a:p>
                  </a:txBody>
                  <a:tcPr/>
                </a:tc>
                <a:tc>
                  <a:txBody>
                    <a:bodyPr/>
                    <a:lstStyle/>
                    <a:p>
                      <a:r>
                        <a:rPr lang="en-IN" dirty="0"/>
                        <a:t>Title</a:t>
                      </a:r>
                    </a:p>
                  </a:txBody>
                  <a:tcPr/>
                </a:tc>
                <a:tc>
                  <a:txBody>
                    <a:bodyPr/>
                    <a:lstStyle/>
                    <a:p>
                      <a:r>
                        <a:rPr lang="en-IN" dirty="0"/>
                        <a:t>Source</a:t>
                      </a:r>
                    </a:p>
                  </a:txBody>
                  <a:tcPr/>
                </a:tc>
                <a:tc>
                  <a:txBody>
                    <a:bodyPr/>
                    <a:lstStyle/>
                    <a:p>
                      <a:r>
                        <a:rPr lang="en-IN" dirty="0"/>
                        <a:t>Contributor</a:t>
                      </a:r>
                    </a:p>
                  </a:txBody>
                  <a:tcPr/>
                </a:tc>
                <a:extLst>
                  <a:ext uri="{0D108BD9-81ED-4DB2-BD59-A6C34878D82A}">
                    <a16:rowId xmlns:a16="http://schemas.microsoft.com/office/drawing/2014/main" val="3731582224"/>
                  </a:ext>
                </a:extLst>
              </a:tr>
              <a:tr h="698631">
                <a:tc>
                  <a:txBody>
                    <a:bodyPr/>
                    <a:lstStyle/>
                    <a:p>
                      <a:pPr algn="ctr"/>
                      <a:r>
                        <a:rPr lang="en-IN" sz="1600" dirty="0"/>
                        <a:t>6.</a:t>
                      </a:r>
                    </a:p>
                  </a:txBody>
                  <a:tcPr/>
                </a:tc>
                <a:tc>
                  <a:txBody>
                    <a:bodyPr/>
                    <a:lstStyle/>
                    <a:p>
                      <a:r>
                        <a:rPr lang="en-IN" sz="1050" kern="1200" dirty="0">
                          <a:solidFill>
                            <a:schemeClr val="dk1"/>
                          </a:solidFill>
                          <a:effectLst/>
                          <a:latin typeface="+mn-lt"/>
                          <a:ea typeface="+mn-ea"/>
                          <a:cs typeface="+mn-cs"/>
                        </a:rPr>
                        <a:t>"Explainable student performance prediction models: A systematic review" – Alamri &amp; Alharbi (2021)</a:t>
                      </a: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IEEE Access</a:t>
                      </a: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Comprehensive review of XAI in education; highlighted SHAP and LIME as dominant techniques; identified lack of fairness and interpretability metrics </a:t>
                      </a:r>
                    </a:p>
                  </a:txBody>
                  <a:tcPr/>
                </a:tc>
                <a:extLst>
                  <a:ext uri="{0D108BD9-81ED-4DB2-BD59-A6C34878D82A}">
                    <a16:rowId xmlns:a16="http://schemas.microsoft.com/office/drawing/2014/main" val="514525862"/>
                  </a:ext>
                </a:extLst>
              </a:tr>
              <a:tr h="549212">
                <a:tc>
                  <a:txBody>
                    <a:bodyPr/>
                    <a:lstStyle/>
                    <a:p>
                      <a:pPr algn="ctr"/>
                      <a:r>
                        <a:rPr lang="en-IN" sz="1600" dirty="0"/>
                        <a:t>7.</a:t>
                      </a:r>
                    </a:p>
                  </a:txBody>
                  <a:tcPr/>
                </a:tc>
                <a:tc>
                  <a:txBody>
                    <a:bodyPr/>
                    <a:lstStyle/>
                    <a:p>
                      <a:r>
                        <a:rPr lang="en-IN" sz="1050" kern="1200" dirty="0">
                          <a:solidFill>
                            <a:schemeClr val="dk1"/>
                          </a:solidFill>
                          <a:effectLst/>
                          <a:latin typeface="+mn-lt"/>
                          <a:ea typeface="+mn-ea"/>
                          <a:cs typeface="+mn-cs"/>
                        </a:rPr>
                        <a:t>"Tracking student progress using clustering and explainable AI" – Springer (2026)</a:t>
                      </a:r>
                    </a:p>
                  </a:txBody>
                  <a:tcPr/>
                </a:tc>
                <a:tc>
                  <a:txBody>
                    <a:bodyPr/>
                    <a:lstStyle/>
                    <a:p>
                      <a:pPr>
                        <a:lnSpc>
                          <a:spcPct val="115000"/>
                        </a:lnSpc>
                        <a:buNone/>
                      </a:pPr>
                      <a:r>
                        <a:rPr lang="en-IN" sz="1050" kern="1200" dirty="0">
                          <a:solidFill>
                            <a:schemeClr val="dk1"/>
                          </a:solidFill>
                          <a:effectLst/>
                          <a:latin typeface="+mn-lt"/>
                          <a:ea typeface="+mn-ea"/>
                          <a:cs typeface="+mn-cs"/>
                        </a:rPr>
                        <a:t>Universal Access in the Information Society</a:t>
                      </a:r>
                    </a:p>
                  </a:txBody>
                  <a:tcPr marL="152400" marR="152400" marT="101600" marB="101600"/>
                </a:tc>
                <a:tc>
                  <a:txBody>
                    <a:bodyPr/>
                    <a:lstStyle/>
                    <a:p>
                      <a:pPr marL="0" algn="l" defTabSz="914400" rtl="0" eaLnBrk="1" latinLnBrk="0" hangingPunct="1"/>
                      <a:r>
                        <a:rPr lang="en-IN" sz="1050" kern="1200" dirty="0">
                          <a:solidFill>
                            <a:schemeClr val="dk1"/>
                          </a:solidFill>
                          <a:effectLst/>
                          <a:latin typeface="+mn-lt"/>
                          <a:ea typeface="+mn-ea"/>
                          <a:cs typeface="+mn-cs"/>
                        </a:rPr>
                        <a:t>Proposed rule-based system transforming XAI rules into human-readable feedback; LLM-assisted recommendation generation </a:t>
                      </a:r>
                    </a:p>
                  </a:txBody>
                  <a:tcPr/>
                </a:tc>
                <a:extLst>
                  <a:ext uri="{0D108BD9-81ED-4DB2-BD59-A6C34878D82A}">
                    <a16:rowId xmlns:a16="http://schemas.microsoft.com/office/drawing/2014/main" val="2131739848"/>
                  </a:ext>
                </a:extLst>
              </a:tr>
              <a:tr h="556754">
                <a:tc>
                  <a:txBody>
                    <a:bodyPr/>
                    <a:lstStyle/>
                    <a:p>
                      <a:pPr algn="ctr"/>
                      <a:r>
                        <a:rPr lang="en-IN" sz="1600" dirty="0"/>
                        <a:t>8.</a:t>
                      </a:r>
                    </a:p>
                  </a:txBody>
                  <a:tcPr/>
                </a:tc>
                <a:tc>
                  <a:txBody>
                    <a:bodyPr/>
                    <a:lstStyle/>
                    <a:p>
                      <a:pPr>
                        <a:lnSpc>
                          <a:spcPct val="115000"/>
                        </a:lnSpc>
                        <a:buNone/>
                      </a:pPr>
                      <a:r>
                        <a:rPr lang="en-IN" sz="1050" kern="1200" dirty="0">
                          <a:solidFill>
                            <a:schemeClr val="dk1"/>
                          </a:solidFill>
                          <a:effectLst/>
                          <a:latin typeface="+mn-lt"/>
                          <a:ea typeface="+mn-ea"/>
                          <a:cs typeface="+mn-cs"/>
                        </a:rPr>
                        <a:t>"Explainable AI in education: A survey" – Khosravi et al. (2022)</a:t>
                      </a:r>
                    </a:p>
                  </a:txBody>
                  <a:tcPr marL="152400" marR="152400" marT="101600" marB="101600"/>
                </a:tc>
                <a:tc>
                  <a:txBody>
                    <a:bodyPr/>
                    <a:lstStyle/>
                    <a:p>
                      <a:pPr marL="0" algn="l" defTabSz="914400" rtl="0" eaLnBrk="1" latinLnBrk="0" hangingPunct="1"/>
                      <a:r>
                        <a:rPr lang="en-IN" sz="1050" kern="1200" dirty="0">
                          <a:solidFill>
                            <a:schemeClr val="dk1"/>
                          </a:solidFill>
                          <a:effectLst/>
                          <a:latin typeface="+mn-lt"/>
                          <a:ea typeface="+mn-ea"/>
                          <a:cs typeface="+mn-cs"/>
                        </a:rPr>
                        <a:t>Computers and Education: AI</a:t>
                      </a:r>
                    </a:p>
                  </a:txBody>
                  <a:tcPr/>
                </a:tc>
                <a:tc>
                  <a:txBody>
                    <a:bodyPr/>
                    <a:lstStyle/>
                    <a:p>
                      <a:pPr marL="0" algn="l" defTabSz="914400" rtl="0" eaLnBrk="1" latinLnBrk="0" hangingPunct="1"/>
                      <a:r>
                        <a:rPr lang="en-IN" sz="1050" kern="1200" dirty="0">
                          <a:solidFill>
                            <a:schemeClr val="dk1"/>
                          </a:solidFill>
                          <a:effectLst/>
                          <a:latin typeface="+mn-lt"/>
                          <a:ea typeface="+mn-ea"/>
                          <a:cs typeface="+mn-cs"/>
                        </a:rPr>
                        <a:t>Provided foundational framework for XAI in educational contexts; discussed stakeholder-specific explanation requirements </a:t>
                      </a:r>
                    </a:p>
                  </a:txBody>
                  <a:tcPr/>
                </a:tc>
                <a:extLst>
                  <a:ext uri="{0D108BD9-81ED-4DB2-BD59-A6C34878D82A}">
                    <a16:rowId xmlns:a16="http://schemas.microsoft.com/office/drawing/2014/main" val="2951709144"/>
                  </a:ext>
                </a:extLst>
              </a:tr>
              <a:tr h="729219">
                <a:tc>
                  <a:txBody>
                    <a:bodyPr/>
                    <a:lstStyle/>
                    <a:p>
                      <a:pPr algn="ctr"/>
                      <a:r>
                        <a:rPr lang="en-IN" sz="1600" dirty="0"/>
                        <a:t>9.</a:t>
                      </a:r>
                    </a:p>
                  </a:txBody>
                  <a:tcPr/>
                </a:tc>
                <a:tc>
                  <a:txBody>
                    <a:bodyPr/>
                    <a:lstStyle/>
                    <a:p>
                      <a:pPr>
                        <a:lnSpc>
                          <a:spcPct val="115000"/>
                        </a:lnSpc>
                        <a:buNone/>
                      </a:pPr>
                      <a:r>
                        <a:rPr lang="en-IN" sz="1050" kern="1200" dirty="0">
                          <a:solidFill>
                            <a:schemeClr val="dk1"/>
                          </a:solidFill>
                          <a:effectLst/>
                          <a:latin typeface="+mn-lt"/>
                          <a:ea typeface="+mn-ea"/>
                          <a:cs typeface="+mn-cs"/>
                        </a:rPr>
                        <a:t>"</a:t>
                      </a:r>
                      <a:r>
                        <a:rPr lang="en-IN" sz="1050" kern="1200" dirty="0" err="1">
                          <a:solidFill>
                            <a:schemeClr val="dk1"/>
                          </a:solidFill>
                          <a:effectLst/>
                          <a:latin typeface="+mn-lt"/>
                          <a:ea typeface="+mn-ea"/>
                          <a:cs typeface="+mn-cs"/>
                        </a:rPr>
                        <a:t>Analyzing</a:t>
                      </a:r>
                      <a:r>
                        <a:rPr lang="en-IN" sz="1050" kern="1200" dirty="0">
                          <a:solidFill>
                            <a:schemeClr val="dk1"/>
                          </a:solidFill>
                          <a:effectLst/>
                          <a:latin typeface="+mn-lt"/>
                          <a:ea typeface="+mn-ea"/>
                          <a:cs typeface="+mn-cs"/>
                        </a:rPr>
                        <a:t> dropout and explainable prediction using AI" – Paul et al. (2025)</a:t>
                      </a:r>
                    </a:p>
                  </a:txBody>
                  <a:tcPr marL="152400" marR="152400" marT="101600" marB="101600"/>
                </a:tc>
                <a:tc>
                  <a:txBody>
                    <a:bodyPr/>
                    <a:lstStyle/>
                    <a:p>
                      <a:pPr marL="0" algn="l" defTabSz="914400" rtl="0" eaLnBrk="1" latinLnBrk="0" hangingPunct="1"/>
                      <a:r>
                        <a:rPr lang="en-IN" sz="1050" kern="1200" dirty="0">
                          <a:solidFill>
                            <a:schemeClr val="dk1"/>
                          </a:solidFill>
                          <a:effectLst/>
                          <a:latin typeface="+mn-lt"/>
                          <a:ea typeface="+mn-ea"/>
                          <a:cs typeface="+mn-cs"/>
                        </a:rPr>
                        <a:t>Frontiers in Education</a:t>
                      </a:r>
                    </a:p>
                  </a:txBody>
                  <a:tcPr/>
                </a:tc>
                <a:tc>
                  <a:txBody>
                    <a:bodyPr/>
                    <a:lstStyle/>
                    <a:p>
                      <a:pPr>
                        <a:lnSpc>
                          <a:spcPct val="115000"/>
                        </a:lnSpc>
                        <a:buNone/>
                      </a:pPr>
                      <a:r>
                        <a:rPr lang="en-IN" sz="1050" kern="1200" dirty="0">
                          <a:solidFill>
                            <a:schemeClr val="dk1"/>
                          </a:solidFill>
                          <a:effectLst/>
                          <a:latin typeface="+mn-lt"/>
                          <a:ea typeface="+mn-ea"/>
                          <a:cs typeface="+mn-cs"/>
                        </a:rPr>
                        <a:t>Logistic Regression found most effective for at-risk identification; XAI provided explainable insights into decision-making </a:t>
                      </a:r>
                    </a:p>
                  </a:txBody>
                  <a:tcPr marL="152400" marR="0" marT="101600" marB="101600"/>
                </a:tc>
                <a:extLst>
                  <a:ext uri="{0D108BD9-81ED-4DB2-BD59-A6C34878D82A}">
                    <a16:rowId xmlns:a16="http://schemas.microsoft.com/office/drawing/2014/main" val="2831325665"/>
                  </a:ext>
                </a:extLst>
              </a:tr>
              <a:tr h="699466">
                <a:tc>
                  <a:txBody>
                    <a:bodyPr/>
                    <a:lstStyle/>
                    <a:p>
                      <a:pPr algn="ctr"/>
                      <a:r>
                        <a:rPr lang="en-IN" sz="1600" dirty="0"/>
                        <a:t>10.</a:t>
                      </a:r>
                    </a:p>
                  </a:txBody>
                  <a:tcPr/>
                </a:tc>
                <a:tc>
                  <a:txBody>
                    <a:bodyPr/>
                    <a:lstStyle/>
                    <a:p>
                      <a:pPr>
                        <a:lnSpc>
                          <a:spcPct val="115000"/>
                        </a:lnSpc>
                        <a:buNone/>
                      </a:pPr>
                      <a:r>
                        <a:rPr lang="en-IN" sz="1050" kern="1200" dirty="0">
                          <a:solidFill>
                            <a:schemeClr val="dk1"/>
                          </a:solidFill>
                          <a:effectLst/>
                          <a:latin typeface="+mn-lt"/>
                          <a:ea typeface="+mn-ea"/>
                          <a:cs typeface="+mn-cs"/>
                        </a:rPr>
                        <a:t>"Predicting academic performance through lifestyle factors using interpretable ML" – World Scientific (2026)</a:t>
                      </a:r>
                    </a:p>
                  </a:txBody>
                  <a:tcPr marL="152400" marR="152400" marT="101600" marB="101600"/>
                </a:tc>
                <a:tc>
                  <a:txBody>
                    <a:bodyPr/>
                    <a:lstStyle/>
                    <a:p>
                      <a:pPr>
                        <a:lnSpc>
                          <a:spcPct val="115000"/>
                        </a:lnSpc>
                        <a:buNone/>
                      </a:pPr>
                      <a:r>
                        <a:rPr lang="en-IN" sz="1050" kern="1200" dirty="0">
                          <a:solidFill>
                            <a:schemeClr val="dk1"/>
                          </a:solidFill>
                          <a:effectLst/>
                          <a:latin typeface="+mn-lt"/>
                          <a:ea typeface="+mn-ea"/>
                          <a:cs typeface="+mn-cs"/>
                        </a:rPr>
                        <a:t>International Journal on AI Tools</a:t>
                      </a:r>
                    </a:p>
                  </a:txBody>
                  <a:tcPr marL="152400" marR="152400" marT="101600" marB="101600"/>
                </a:tc>
                <a:tc>
                  <a:txBody>
                    <a:bodyPr/>
                    <a:lstStyle/>
                    <a:p>
                      <a:pPr>
                        <a:lnSpc>
                          <a:spcPct val="115000"/>
                        </a:lnSpc>
                        <a:buNone/>
                      </a:pPr>
                      <a:r>
                        <a:rPr lang="en-IN" sz="1050" kern="1200" dirty="0">
                          <a:solidFill>
                            <a:schemeClr val="dk1"/>
                          </a:solidFill>
                          <a:effectLst/>
                          <a:latin typeface="+mn-lt"/>
                          <a:ea typeface="+mn-ea"/>
                          <a:cs typeface="+mn-cs"/>
                        </a:rPr>
                        <a:t>Proposed hierarchical evolutionary feature selection framework balancing predictive accuracy with interpretability </a:t>
                      </a:r>
                    </a:p>
                  </a:txBody>
                  <a:tcPr marL="152400" marR="0" marT="101600" marB="101600"/>
                </a:tc>
                <a:extLst>
                  <a:ext uri="{0D108BD9-81ED-4DB2-BD59-A6C34878D82A}">
                    <a16:rowId xmlns:a16="http://schemas.microsoft.com/office/drawing/2014/main" val="1117734574"/>
                  </a:ext>
                </a:extLst>
              </a:tr>
              <a:tr h="604075">
                <a:tc>
                  <a:txBody>
                    <a:bodyPr/>
                    <a:lstStyle/>
                    <a:p>
                      <a:pPr algn="ctr">
                        <a:lnSpc>
                          <a:spcPct val="115000"/>
                        </a:lnSpc>
                        <a:buNone/>
                      </a:pPr>
                      <a:r>
                        <a:rPr lang="en-IN" sz="1600" kern="1200" dirty="0">
                          <a:solidFill>
                            <a:schemeClr val="dk1"/>
                          </a:solidFill>
                          <a:latin typeface="+mn-lt"/>
                          <a:ea typeface="+mn-ea"/>
                          <a:cs typeface="+mn-cs"/>
                        </a:rPr>
                        <a:t>11.</a:t>
                      </a:r>
                    </a:p>
                  </a:txBody>
                  <a:tcPr marL="0" marR="152400" marT="101600" marB="101600"/>
                </a:tc>
                <a:tc>
                  <a:txBody>
                    <a:bodyPr/>
                    <a:lstStyle/>
                    <a:p>
                      <a:pPr>
                        <a:lnSpc>
                          <a:spcPct val="115000"/>
                        </a:lnSpc>
                        <a:buNone/>
                      </a:pPr>
                      <a:r>
                        <a:rPr lang="en-IN" sz="1050" kern="1200" dirty="0">
                          <a:solidFill>
                            <a:schemeClr val="dk1"/>
                          </a:solidFill>
                          <a:effectLst/>
                          <a:latin typeface="+mn-lt"/>
                          <a:ea typeface="+mn-ea"/>
                          <a:cs typeface="+mn-cs"/>
                        </a:rPr>
                        <a:t>"A Novel Hybrid Feature Selection Framework for Enhancing Accuracy and Interpretability" – Bin Azmi et al. (2025)</a:t>
                      </a:r>
                    </a:p>
                  </a:txBody>
                  <a:tcPr marL="152400" marR="152400" marT="101600" marB="101600"/>
                </a:tc>
                <a:tc>
                  <a:txBody>
                    <a:bodyPr/>
                    <a:lstStyle/>
                    <a:p>
                      <a:pPr>
                        <a:lnSpc>
                          <a:spcPct val="115000"/>
                        </a:lnSpc>
                        <a:buNone/>
                      </a:pPr>
                      <a:r>
                        <a:rPr lang="en-IN" sz="1050" kern="1200" dirty="0">
                          <a:solidFill>
                            <a:schemeClr val="dk1"/>
                          </a:solidFill>
                          <a:effectLst/>
                          <a:latin typeface="+mn-lt"/>
                          <a:ea typeface="+mn-ea"/>
                          <a:cs typeface="+mn-cs"/>
                        </a:rPr>
                        <a:t>International Journal of Applied Mathematics</a:t>
                      </a:r>
                    </a:p>
                  </a:txBody>
                  <a:tcPr marL="152400" marR="152400" marT="101600" marB="101600"/>
                </a:tc>
                <a:tc>
                  <a:txBody>
                    <a:bodyPr/>
                    <a:lstStyle/>
                    <a:p>
                      <a:pPr>
                        <a:lnSpc>
                          <a:spcPct val="115000"/>
                        </a:lnSpc>
                        <a:buNone/>
                      </a:pPr>
                      <a:r>
                        <a:rPr lang="en-IN" sz="1050" kern="1200" dirty="0">
                          <a:solidFill>
                            <a:schemeClr val="dk1"/>
                          </a:solidFill>
                          <a:effectLst/>
                          <a:latin typeface="+mn-lt"/>
                          <a:ea typeface="+mn-ea"/>
                          <a:cs typeface="+mn-cs"/>
                        </a:rPr>
                        <a:t>Proposed LASSO + ACO hybrid feature selection to balance accuracy and interpretability; highlighted "black-box" decision transparency </a:t>
                      </a:r>
                    </a:p>
                  </a:txBody>
                  <a:tcPr marL="152400" marR="0" marT="101600" marB="101600"/>
                </a:tc>
                <a:extLst>
                  <a:ext uri="{0D108BD9-81ED-4DB2-BD59-A6C34878D82A}">
                    <a16:rowId xmlns:a16="http://schemas.microsoft.com/office/drawing/2014/main" val="1162301759"/>
                  </a:ext>
                </a:extLst>
              </a:tr>
            </a:tbl>
          </a:graphicData>
        </a:graphic>
      </p:graphicFrame>
    </p:spTree>
    <p:extLst>
      <p:ext uri="{BB962C8B-B14F-4D97-AF65-F5344CB8AC3E}">
        <p14:creationId xmlns:p14="http://schemas.microsoft.com/office/powerpoint/2010/main" val="44655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06226"/>
            <a:ext cx="8151763" cy="415305"/>
          </a:xfrm>
          <a:prstGeom prst="rect">
            <a:avLst/>
          </a:prstGeom>
          <a:noFill/>
          <a:ln/>
        </p:spPr>
        <p:txBody>
          <a:bodyPr wrap="none" lIns="0" tIns="0" rIns="0" bIns="0" rtlCol="0" anchor="t"/>
          <a:lstStyle/>
          <a:p>
            <a:pPr marL="0" indent="0" algn="l">
              <a:lnSpc>
                <a:spcPct val="104000"/>
              </a:lnSpc>
              <a:buNone/>
            </a:pPr>
            <a:r>
              <a:rPr lang="en-US" sz="2600" dirty="0">
                <a:solidFill>
                  <a:srgbClr val="312F2B"/>
                </a:solidFill>
                <a:latin typeface="Gelasio" pitchFamily="34" charset="0"/>
                <a:cs typeface="Gelasio" pitchFamily="34" charset="-120"/>
              </a:rPr>
              <a:t>Research Gaps</a:t>
            </a:r>
            <a:endParaRPr lang="en-US" sz="2600" dirty="0"/>
          </a:p>
        </p:txBody>
      </p:sp>
      <p:sp>
        <p:nvSpPr>
          <p:cNvPr id="5" name="Text 3"/>
          <p:cNvSpPr/>
          <p:nvPr/>
        </p:nvSpPr>
        <p:spPr>
          <a:xfrm>
            <a:off x="919683" y="1116285"/>
            <a:ext cx="7728198" cy="207690"/>
          </a:xfrm>
          <a:prstGeom prst="rect">
            <a:avLst/>
          </a:prstGeom>
          <a:noFill/>
          <a:ln/>
        </p:spPr>
        <p:txBody>
          <a:bodyPr wrap="none" lIns="0" tIns="0" rIns="0" bIns="0" rtlCol="0" anchor="t"/>
          <a:lstStyle/>
          <a:p>
            <a:pPr>
              <a:lnSpc>
                <a:spcPct val="104000"/>
              </a:lnSpc>
            </a:pPr>
            <a:endParaRPr lang="en-US" sz="1050" dirty="0"/>
          </a:p>
        </p:txBody>
      </p:sp>
      <p:sp>
        <p:nvSpPr>
          <p:cNvPr id="24" name="Rectangle 23">
            <a:extLst>
              <a:ext uri="{FF2B5EF4-FFF2-40B4-BE49-F238E27FC236}">
                <a16:creationId xmlns:a16="http://schemas.microsoft.com/office/drawing/2014/main" id="{198A2B86-C2F6-17BD-6854-70A78ACA8ED3}"/>
              </a:ext>
            </a:extLst>
          </p:cNvPr>
          <p:cNvSpPr/>
          <p:nvPr/>
        </p:nvSpPr>
        <p:spPr>
          <a:xfrm>
            <a:off x="7728857" y="4775200"/>
            <a:ext cx="1415143" cy="3683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54EC2C4B-23DE-2CD7-335B-B22BC595F57A}"/>
              </a:ext>
            </a:extLst>
          </p:cNvPr>
          <p:cNvSpPr txBox="1"/>
          <p:nvPr/>
        </p:nvSpPr>
        <p:spPr>
          <a:xfrm>
            <a:off x="419771" y="910377"/>
            <a:ext cx="7528810" cy="4518353"/>
          </a:xfrm>
          <a:prstGeom prst="rect">
            <a:avLst/>
          </a:prstGeom>
          <a:noFill/>
        </p:spPr>
        <p:txBody>
          <a:bodyPr wrap="square">
            <a:spAutoFit/>
          </a:bodyPr>
          <a:lstStyle/>
          <a:p>
            <a:pPr marL="342900" indent="-342900">
              <a:lnSpc>
                <a:spcPct val="104000"/>
              </a:lnSpc>
              <a:buFont typeface="+mj-lt"/>
              <a:buAutoNum type="arabicPeriod"/>
            </a:pPr>
            <a:r>
              <a:rPr lang="en-IN" sz="1400" dirty="0">
                <a:ea typeface="Lato" panose="020F0502020204030203" pitchFamily="34" charset="0"/>
                <a:cs typeface="Lato" panose="020F0502020204030203" pitchFamily="34" charset="0"/>
              </a:rPr>
              <a:t>Interpretability as Post-Hoc Component – Most studies treat interpretability as an afterthought rather than a core objective of model design; limited systematic evaluation and comparative analysis of interpretability across models from different ML techniques </a:t>
            </a:r>
          </a:p>
          <a:p>
            <a:pPr marL="342900" indent="-342900">
              <a:lnSpc>
                <a:spcPct val="104000"/>
              </a:lnSpc>
              <a:buFont typeface="+mj-lt"/>
              <a:buAutoNum type="arabicPeriod"/>
            </a:pPr>
            <a:endParaRPr lang="en-IN" sz="1400" dirty="0">
              <a:ea typeface="Lato" panose="020F0502020204030203" pitchFamily="34" charset="0"/>
              <a:cs typeface="Lato" panose="020F0502020204030203" pitchFamily="34" charset="0"/>
            </a:endParaRPr>
          </a:p>
          <a:p>
            <a:pPr marL="342900" indent="-342900">
              <a:lnSpc>
                <a:spcPct val="104000"/>
              </a:lnSpc>
              <a:buFont typeface="+mj-lt"/>
              <a:buAutoNum type="arabicPeriod"/>
            </a:pPr>
            <a:r>
              <a:rPr lang="en-IN" sz="1400" dirty="0">
                <a:ea typeface="Lato" panose="020F0502020204030203" pitchFamily="34" charset="0"/>
                <a:cs typeface="Lato" panose="020F0502020204030203" pitchFamily="34" charset="0"/>
              </a:rPr>
              <a:t>Limited Quantifiable Explainability Metrics – Only a few studies include quantified explanations using metrics like sensitivity and stability; lack of standardized evaluation frameworks for XAI in education </a:t>
            </a:r>
          </a:p>
          <a:p>
            <a:pPr marL="342900" indent="-342900">
              <a:lnSpc>
                <a:spcPct val="104000"/>
              </a:lnSpc>
              <a:buFont typeface="+mj-lt"/>
              <a:buAutoNum type="arabicPeriod"/>
            </a:pPr>
            <a:endParaRPr lang="en-IN" sz="1400" dirty="0">
              <a:ea typeface="Lato" panose="020F0502020204030203" pitchFamily="34" charset="0"/>
              <a:cs typeface="Lato" panose="020F0502020204030203" pitchFamily="34" charset="0"/>
            </a:endParaRPr>
          </a:p>
          <a:p>
            <a:pPr marL="342900" indent="-342900">
              <a:lnSpc>
                <a:spcPct val="104000"/>
              </a:lnSpc>
              <a:buFont typeface="+mj-lt"/>
              <a:buAutoNum type="arabicPeriod"/>
            </a:pPr>
            <a:r>
              <a:rPr lang="en-IN" sz="1400" dirty="0">
                <a:ea typeface="Lato" panose="020F0502020204030203" pitchFamily="34" charset="0"/>
                <a:cs typeface="Lato" panose="020F0502020204030203" pitchFamily="34" charset="0"/>
              </a:rPr>
              <a:t>Lack of Comparative Studies – Need for studies comparing interpretability across multiple ML models (Logistic Regression, Decision Tree, Random Forest, </a:t>
            </a:r>
            <a:r>
              <a:rPr lang="en-IN" sz="1400" dirty="0" err="1">
                <a:ea typeface="Lato" panose="020F0502020204030203" pitchFamily="34" charset="0"/>
                <a:cs typeface="Lato" panose="020F0502020204030203" pitchFamily="34" charset="0"/>
              </a:rPr>
              <a:t>XGBoost</a:t>
            </a:r>
            <a:r>
              <a:rPr lang="en-IN" sz="1400" dirty="0">
                <a:ea typeface="Lato" panose="020F0502020204030203" pitchFamily="34" charset="0"/>
                <a:cs typeface="Lato" panose="020F0502020204030203" pitchFamily="34" charset="0"/>
              </a:rPr>
              <a:t>, </a:t>
            </a:r>
            <a:r>
              <a:rPr lang="en-IN" sz="1400" dirty="0" err="1">
                <a:ea typeface="Lato" panose="020F0502020204030203" pitchFamily="34" charset="0"/>
                <a:cs typeface="Lato" panose="020F0502020204030203" pitchFamily="34" charset="0"/>
              </a:rPr>
              <a:t>CatBoost</a:t>
            </a:r>
            <a:r>
              <a:rPr lang="en-IN" sz="1400" dirty="0">
                <a:ea typeface="Lato" panose="020F0502020204030203" pitchFamily="34" charset="0"/>
                <a:cs typeface="Lato" panose="020F0502020204030203" pitchFamily="34" charset="0"/>
              </a:rPr>
              <a:t>) using identical datasets and XAI techniques </a:t>
            </a:r>
          </a:p>
          <a:p>
            <a:pPr marL="342900" indent="-342900">
              <a:lnSpc>
                <a:spcPct val="104000"/>
              </a:lnSpc>
              <a:buFont typeface="+mj-lt"/>
              <a:buAutoNum type="arabicPeriod"/>
            </a:pPr>
            <a:endParaRPr lang="en-IN" sz="1400" dirty="0">
              <a:ea typeface="Lato" panose="020F0502020204030203" pitchFamily="34" charset="0"/>
              <a:cs typeface="Lato" panose="020F0502020204030203" pitchFamily="34" charset="0"/>
            </a:endParaRPr>
          </a:p>
          <a:p>
            <a:pPr marL="342900" indent="-342900">
              <a:lnSpc>
                <a:spcPct val="104000"/>
              </a:lnSpc>
              <a:buFont typeface="+mj-lt"/>
              <a:buAutoNum type="arabicPeriod"/>
            </a:pPr>
            <a:r>
              <a:rPr lang="en-IN" sz="1400" dirty="0">
                <a:ea typeface="Lato" panose="020F0502020204030203" pitchFamily="34" charset="0"/>
                <a:cs typeface="Lato" panose="020F0502020204030203" pitchFamily="34" charset="0"/>
              </a:rPr>
              <a:t>Limited Fairness Integration – Fairness and equity considerations remain underexamined in XAI educational research; need to assess group-level fairness in predictive systems </a:t>
            </a:r>
          </a:p>
          <a:p>
            <a:pPr marL="342900" indent="-342900">
              <a:lnSpc>
                <a:spcPct val="104000"/>
              </a:lnSpc>
              <a:buFont typeface="+mj-lt"/>
              <a:buAutoNum type="arabicPeriod"/>
            </a:pPr>
            <a:endParaRPr lang="en-IN" sz="1400" dirty="0">
              <a:ea typeface="Lato" panose="020F0502020204030203" pitchFamily="34" charset="0"/>
              <a:cs typeface="Lato" panose="020F0502020204030203" pitchFamily="34" charset="0"/>
            </a:endParaRPr>
          </a:p>
          <a:p>
            <a:pPr marL="342900" indent="-342900">
              <a:lnSpc>
                <a:spcPct val="104000"/>
              </a:lnSpc>
              <a:buFont typeface="+mj-lt"/>
              <a:buAutoNum type="arabicPeriod"/>
            </a:pPr>
            <a:r>
              <a:rPr lang="en-IN" sz="1400" dirty="0">
                <a:ea typeface="Lato" panose="020F0502020204030203" pitchFamily="34" charset="0"/>
                <a:cs typeface="Lato" panose="020F0502020204030203" pitchFamily="34" charset="0"/>
              </a:rPr>
              <a:t>Limited Multi-Dataset Integration – Most studies rely on single datasets; need for comprehensive comparison across multiple benchmark datasets (UCI, </a:t>
            </a:r>
            <a:r>
              <a:rPr lang="en-IN" sz="1400" dirty="0" err="1">
                <a:ea typeface="Lato" panose="020F0502020204030203" pitchFamily="34" charset="0"/>
                <a:cs typeface="Lato" panose="020F0502020204030203" pitchFamily="34" charset="0"/>
              </a:rPr>
              <a:t>xAPI</a:t>
            </a:r>
            <a:r>
              <a:rPr lang="en-IN" sz="1400" dirty="0">
                <a:ea typeface="Lato" panose="020F0502020204030203" pitchFamily="34" charset="0"/>
                <a:cs typeface="Lato" panose="020F0502020204030203" pitchFamily="34" charset="0"/>
              </a:rPr>
              <a:t>, OULAD) </a:t>
            </a:r>
          </a:p>
          <a:p>
            <a:pPr marL="171450" indent="-171450">
              <a:lnSpc>
                <a:spcPct val="104000"/>
              </a:lnSpc>
              <a:buFont typeface="Arial" panose="020B0604020202020204" pitchFamily="34" charset="0"/>
              <a:buChar char="•"/>
            </a:pPr>
            <a:endParaRPr lang="en-IN" sz="1400" dirty="0">
              <a:ea typeface="Lato" panose="020F0502020204030203" pitchFamily="34" charset="0"/>
              <a:cs typeface="Lato" panose="020F0502020204030203" pitchFamily="34" charset="0"/>
            </a:endParaRPr>
          </a:p>
          <a:p>
            <a:pPr marL="171450" indent="-171450">
              <a:lnSpc>
                <a:spcPct val="104000"/>
              </a:lnSpc>
              <a:buFont typeface="Arial" panose="020B0604020202020204" pitchFamily="34" charset="0"/>
              <a:buChar char="•"/>
            </a:pPr>
            <a:endParaRPr lang="en-IN" sz="1400" dirty="0">
              <a:ea typeface="Lato" panose="020F0502020204030203" pitchFamily="34" charset="0"/>
              <a:cs typeface="Lato" panose="020F0502020204030203" pitchFamily="34" charset="0"/>
            </a:endParaRPr>
          </a:p>
          <a:p>
            <a:pPr marL="171450" indent="-171450">
              <a:lnSpc>
                <a:spcPct val="104000"/>
              </a:lnSpc>
              <a:buFont typeface="Arial" panose="020B0604020202020204" pitchFamily="34" charset="0"/>
              <a:buChar char="•"/>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0669E-AB1E-E060-4396-447ABC0AEA1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D758EA-99F3-F672-5449-499351FCE1FC}"/>
              </a:ext>
            </a:extLst>
          </p:cNvPr>
          <p:cNvSpPr/>
          <p:nvPr/>
        </p:nvSpPr>
        <p:spPr>
          <a:xfrm>
            <a:off x="496119" y="500569"/>
            <a:ext cx="8151763" cy="415305"/>
          </a:xfrm>
          <a:prstGeom prst="rect">
            <a:avLst/>
          </a:prstGeom>
          <a:noFill/>
          <a:ln/>
        </p:spPr>
        <p:txBody>
          <a:bodyPr wrap="none" lIns="0" tIns="0" rIns="0" bIns="0" rtlCol="0" anchor="t"/>
          <a:lstStyle/>
          <a:p>
            <a:pPr marL="0" indent="0" algn="l">
              <a:lnSpc>
                <a:spcPct val="104000"/>
              </a:lnSpc>
              <a:buNone/>
            </a:pPr>
            <a:r>
              <a:rPr lang="en-US" sz="2600" dirty="0">
                <a:solidFill>
                  <a:srgbClr val="312F2B"/>
                </a:solidFill>
                <a:latin typeface="Gelasio" pitchFamily="34" charset="0"/>
                <a:cs typeface="Gelasio" pitchFamily="34" charset="-120"/>
              </a:rPr>
              <a:t>Objectives</a:t>
            </a:r>
            <a:endParaRPr lang="en-US" sz="2600" dirty="0"/>
          </a:p>
        </p:txBody>
      </p:sp>
      <p:sp>
        <p:nvSpPr>
          <p:cNvPr id="5" name="Text 3">
            <a:extLst>
              <a:ext uri="{FF2B5EF4-FFF2-40B4-BE49-F238E27FC236}">
                <a16:creationId xmlns:a16="http://schemas.microsoft.com/office/drawing/2014/main" id="{5DAE671F-CB1A-EFC8-AC62-4ABF37A2FC1A}"/>
              </a:ext>
            </a:extLst>
          </p:cNvPr>
          <p:cNvSpPr/>
          <p:nvPr/>
        </p:nvSpPr>
        <p:spPr>
          <a:xfrm>
            <a:off x="919683" y="1116285"/>
            <a:ext cx="7728198" cy="207690"/>
          </a:xfrm>
          <a:prstGeom prst="rect">
            <a:avLst/>
          </a:prstGeom>
          <a:noFill/>
          <a:ln/>
        </p:spPr>
        <p:txBody>
          <a:bodyPr wrap="none" lIns="0" tIns="0" rIns="0" bIns="0" rtlCol="0" anchor="t"/>
          <a:lstStyle/>
          <a:p>
            <a:pPr>
              <a:lnSpc>
                <a:spcPct val="104000"/>
              </a:lnSpc>
            </a:pPr>
            <a:endParaRPr lang="en-US" sz="1050" dirty="0"/>
          </a:p>
        </p:txBody>
      </p:sp>
      <p:sp>
        <p:nvSpPr>
          <p:cNvPr id="24" name="Rectangle 23">
            <a:extLst>
              <a:ext uri="{FF2B5EF4-FFF2-40B4-BE49-F238E27FC236}">
                <a16:creationId xmlns:a16="http://schemas.microsoft.com/office/drawing/2014/main" id="{B1EF896C-DBB7-5E88-42FB-C73B8B5F1E97}"/>
              </a:ext>
            </a:extLst>
          </p:cNvPr>
          <p:cNvSpPr/>
          <p:nvPr/>
        </p:nvSpPr>
        <p:spPr>
          <a:xfrm>
            <a:off x="7728857" y="4775200"/>
            <a:ext cx="1415143" cy="3683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320F51BD-FF4D-7274-BFCE-1C108CA43BFC}"/>
              </a:ext>
            </a:extLst>
          </p:cNvPr>
          <p:cNvSpPr txBox="1"/>
          <p:nvPr/>
        </p:nvSpPr>
        <p:spPr>
          <a:xfrm>
            <a:off x="419771" y="1323975"/>
            <a:ext cx="7528810" cy="3174139"/>
          </a:xfrm>
          <a:prstGeom prst="rect">
            <a:avLst/>
          </a:prstGeom>
          <a:noFill/>
        </p:spPr>
        <p:txBody>
          <a:bodyPr wrap="square">
            <a:spAutoFit/>
          </a:bodyPr>
          <a:lstStyle/>
          <a:p>
            <a:pPr marL="342900" indent="-342900">
              <a:lnSpc>
                <a:spcPct val="104000"/>
              </a:lnSpc>
              <a:buFont typeface="+mj-lt"/>
              <a:buAutoNum type="arabicPeriod"/>
            </a:pPr>
            <a:r>
              <a:rPr lang="en-IN" sz="1400" dirty="0">
                <a:ea typeface="Lato" panose="020F0502020204030203" pitchFamily="34" charset="0"/>
                <a:cs typeface="Lato" panose="020F0502020204030203" pitchFamily="34" charset="0"/>
              </a:rPr>
              <a:t>To evaluate and compare the predictive accuracy of five machine learning models (Logistic Regression, Decision Tree, Random Forest, </a:t>
            </a:r>
            <a:r>
              <a:rPr lang="en-IN" sz="1400" dirty="0" err="1">
                <a:ea typeface="Lato" panose="020F0502020204030203" pitchFamily="34" charset="0"/>
                <a:cs typeface="Lato" panose="020F0502020204030203" pitchFamily="34" charset="0"/>
              </a:rPr>
              <a:t>XGBoost</a:t>
            </a:r>
            <a:r>
              <a:rPr lang="en-IN" sz="1400" dirty="0">
                <a:ea typeface="Lato" panose="020F0502020204030203" pitchFamily="34" charset="0"/>
                <a:cs typeface="Lato" panose="020F0502020204030203" pitchFamily="34" charset="0"/>
              </a:rPr>
              <a:t>, </a:t>
            </a:r>
            <a:r>
              <a:rPr lang="en-IN" sz="1400" dirty="0" err="1">
                <a:ea typeface="Lato" panose="020F0502020204030203" pitchFamily="34" charset="0"/>
                <a:cs typeface="Lato" panose="020F0502020204030203" pitchFamily="34" charset="0"/>
              </a:rPr>
              <a:t>CatBoost</a:t>
            </a:r>
            <a:r>
              <a:rPr lang="en-IN" sz="1400" dirty="0">
                <a:ea typeface="Lato" panose="020F0502020204030203" pitchFamily="34" charset="0"/>
                <a:cs typeface="Lato" panose="020F0502020204030203" pitchFamily="34" charset="0"/>
              </a:rPr>
              <a:t>) for student academic performance classification</a:t>
            </a:r>
          </a:p>
          <a:p>
            <a:pPr marL="342900" indent="-342900">
              <a:lnSpc>
                <a:spcPct val="104000"/>
              </a:lnSpc>
              <a:buFont typeface="+mj-lt"/>
              <a:buAutoNum type="arabicPeriod"/>
            </a:pPr>
            <a:endParaRPr lang="en-IN" sz="1400" dirty="0">
              <a:ea typeface="Lato" panose="020F0502020204030203" pitchFamily="34" charset="0"/>
              <a:cs typeface="Lato" panose="020F0502020204030203" pitchFamily="34" charset="0"/>
            </a:endParaRPr>
          </a:p>
          <a:p>
            <a:pPr marL="342900" indent="-342900">
              <a:lnSpc>
                <a:spcPct val="104000"/>
              </a:lnSpc>
              <a:buFont typeface="+mj-lt"/>
              <a:buAutoNum type="arabicPeriod"/>
            </a:pPr>
            <a:r>
              <a:rPr lang="en-IN" sz="1400" dirty="0">
                <a:ea typeface="Lato" panose="020F0502020204030203" pitchFamily="34" charset="0"/>
                <a:cs typeface="Lato" panose="020F0502020204030203" pitchFamily="34" charset="0"/>
              </a:rPr>
              <a:t>To apply and compare SHAP and LIME XAI techniques for providing global and local explanations across all models</a:t>
            </a:r>
          </a:p>
          <a:p>
            <a:pPr marL="342900" indent="-342900">
              <a:lnSpc>
                <a:spcPct val="104000"/>
              </a:lnSpc>
              <a:buFont typeface="+mj-lt"/>
              <a:buAutoNum type="arabicPeriod"/>
            </a:pPr>
            <a:endParaRPr lang="en-IN" sz="1400" dirty="0">
              <a:ea typeface="Lato" panose="020F0502020204030203" pitchFamily="34" charset="0"/>
              <a:cs typeface="Lato" panose="020F0502020204030203" pitchFamily="34" charset="0"/>
            </a:endParaRPr>
          </a:p>
          <a:p>
            <a:pPr marL="342900" indent="-342900">
              <a:lnSpc>
                <a:spcPct val="104000"/>
              </a:lnSpc>
              <a:buFont typeface="+mj-lt"/>
              <a:buAutoNum type="arabicPeriod"/>
            </a:pPr>
            <a:r>
              <a:rPr lang="en-IN" sz="1400" dirty="0">
                <a:ea typeface="Lato" panose="020F0502020204030203" pitchFamily="34" charset="0"/>
                <a:cs typeface="Lato" panose="020F0502020204030203" pitchFamily="34" charset="0"/>
              </a:rPr>
              <a:t>To identify the most influential academic, </a:t>
            </a:r>
            <a:r>
              <a:rPr lang="en-IN" sz="1400" dirty="0" err="1">
                <a:ea typeface="Lato" panose="020F0502020204030203" pitchFamily="34" charset="0"/>
                <a:cs typeface="Lato" panose="020F0502020204030203" pitchFamily="34" charset="0"/>
              </a:rPr>
              <a:t>behavioral</a:t>
            </a:r>
            <a:r>
              <a:rPr lang="en-IN" sz="1400" dirty="0">
                <a:ea typeface="Lato" panose="020F0502020204030203" pitchFamily="34" charset="0"/>
                <a:cs typeface="Lato" panose="020F0502020204030203" pitchFamily="34" charset="0"/>
              </a:rPr>
              <a:t>, and demographic factors affecting student performance</a:t>
            </a:r>
          </a:p>
          <a:p>
            <a:pPr marL="342900" indent="-342900">
              <a:lnSpc>
                <a:spcPct val="104000"/>
              </a:lnSpc>
              <a:buFont typeface="+mj-lt"/>
              <a:buAutoNum type="arabicPeriod"/>
            </a:pPr>
            <a:endParaRPr lang="en-IN" sz="1400" dirty="0">
              <a:ea typeface="Lato" panose="020F0502020204030203" pitchFamily="34" charset="0"/>
              <a:cs typeface="Lato" panose="020F0502020204030203" pitchFamily="34" charset="0"/>
            </a:endParaRPr>
          </a:p>
          <a:p>
            <a:pPr marL="342900" indent="-342900">
              <a:lnSpc>
                <a:spcPct val="104000"/>
              </a:lnSpc>
              <a:buFont typeface="+mj-lt"/>
              <a:buAutoNum type="arabicPeriod"/>
            </a:pPr>
            <a:r>
              <a:rPr lang="en-IN" sz="1400" dirty="0">
                <a:ea typeface="Lato" panose="020F0502020204030203" pitchFamily="34" charset="0"/>
                <a:cs typeface="Lato" panose="020F0502020204030203" pitchFamily="34" charset="0"/>
              </a:rPr>
              <a:t>To conduct a comparative analysis of models based on performance metrics (Accuracy, Precision, Recall, F1-Score, ROC-AUC) and interpretability scores</a:t>
            </a:r>
          </a:p>
          <a:p>
            <a:pPr marL="171450" indent="-171450">
              <a:lnSpc>
                <a:spcPct val="104000"/>
              </a:lnSpc>
              <a:buFont typeface="Arial" panose="020B0604020202020204" pitchFamily="34" charset="0"/>
              <a:buChar char="•"/>
            </a:pPr>
            <a:endParaRPr lang="en-IN" sz="1400" dirty="0">
              <a:latin typeface="Lato" panose="020F0502020204030203" pitchFamily="34" charset="0"/>
              <a:ea typeface="Lato" panose="020F0502020204030203" pitchFamily="34" charset="0"/>
              <a:cs typeface="Lato" panose="020F0502020204030203" pitchFamily="34" charset="0"/>
            </a:endParaRPr>
          </a:p>
          <a:p>
            <a:pPr marL="171450" indent="-171450">
              <a:lnSpc>
                <a:spcPct val="104000"/>
              </a:lnSpc>
              <a:buFont typeface="Arial" panose="020B0604020202020204" pitchFamily="34" charset="0"/>
              <a:buChar char="•"/>
            </a:pPr>
            <a:endParaRPr lang="en-US" sz="1100" dirty="0"/>
          </a:p>
        </p:txBody>
      </p:sp>
    </p:spTree>
    <p:extLst>
      <p:ext uri="{BB962C8B-B14F-4D97-AF65-F5344CB8AC3E}">
        <p14:creationId xmlns:p14="http://schemas.microsoft.com/office/powerpoint/2010/main" val="1416745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8" y="168880"/>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312F2B"/>
                </a:solidFill>
                <a:latin typeface="Gelasio" pitchFamily="34" charset="0"/>
                <a:ea typeface="Gelasio" pitchFamily="34" charset="-122"/>
                <a:cs typeface="Gelasio" pitchFamily="34" charset="-120"/>
              </a:rPr>
              <a:t>Innovation &amp; Novelty</a:t>
            </a:r>
            <a:endParaRPr lang="en-US" sz="2750" dirty="0"/>
          </a:p>
        </p:txBody>
      </p:sp>
      <p:sp>
        <p:nvSpPr>
          <p:cNvPr id="14" name="Rectangle 13">
            <a:extLst>
              <a:ext uri="{FF2B5EF4-FFF2-40B4-BE49-F238E27FC236}">
                <a16:creationId xmlns:a16="http://schemas.microsoft.com/office/drawing/2014/main" id="{7B280CBB-9299-89EF-E3BE-2F1A7B990C0B}"/>
              </a:ext>
            </a:extLst>
          </p:cNvPr>
          <p:cNvSpPr/>
          <p:nvPr/>
        </p:nvSpPr>
        <p:spPr>
          <a:xfrm>
            <a:off x="7728857" y="4775200"/>
            <a:ext cx="1415143" cy="3683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6" name="Table 15">
            <a:extLst>
              <a:ext uri="{FF2B5EF4-FFF2-40B4-BE49-F238E27FC236}">
                <a16:creationId xmlns:a16="http://schemas.microsoft.com/office/drawing/2014/main" id="{F60A43B6-A4D2-E461-467F-09639EB339E6}"/>
              </a:ext>
            </a:extLst>
          </p:cNvPr>
          <p:cNvGraphicFramePr>
            <a:graphicFrameLocks noGrp="1"/>
          </p:cNvGraphicFramePr>
          <p:nvPr>
            <p:extLst>
              <p:ext uri="{D42A27DB-BD31-4B8C-83A1-F6EECF244321}">
                <p14:modId xmlns:p14="http://schemas.microsoft.com/office/powerpoint/2010/main" val="1403249283"/>
              </p:ext>
            </p:extLst>
          </p:nvPr>
        </p:nvGraphicFramePr>
        <p:xfrm>
          <a:off x="525146" y="729542"/>
          <a:ext cx="7813311" cy="4297807"/>
        </p:xfrm>
        <a:graphic>
          <a:graphicData uri="http://schemas.openxmlformats.org/drawingml/2006/table">
            <a:tbl>
              <a:tblPr firstRow="1" bandRow="1">
                <a:tableStyleId>{073A0DAA-6AF3-43AB-8588-CEC1D06C72B9}</a:tableStyleId>
              </a:tblPr>
              <a:tblGrid>
                <a:gridCol w="870557">
                  <a:extLst>
                    <a:ext uri="{9D8B030D-6E8A-4147-A177-3AD203B41FA5}">
                      <a16:colId xmlns:a16="http://schemas.microsoft.com/office/drawing/2014/main" val="4164327681"/>
                    </a:ext>
                  </a:extLst>
                </a:gridCol>
                <a:gridCol w="3471377">
                  <a:extLst>
                    <a:ext uri="{9D8B030D-6E8A-4147-A177-3AD203B41FA5}">
                      <a16:colId xmlns:a16="http://schemas.microsoft.com/office/drawing/2014/main" val="2758210283"/>
                    </a:ext>
                  </a:extLst>
                </a:gridCol>
                <a:gridCol w="3471377">
                  <a:extLst>
                    <a:ext uri="{9D8B030D-6E8A-4147-A177-3AD203B41FA5}">
                      <a16:colId xmlns:a16="http://schemas.microsoft.com/office/drawing/2014/main" val="2885198794"/>
                    </a:ext>
                  </a:extLst>
                </a:gridCol>
              </a:tblGrid>
              <a:tr h="370840">
                <a:tc>
                  <a:txBody>
                    <a:bodyPr/>
                    <a:lstStyle/>
                    <a:p>
                      <a:pPr algn="ctr">
                        <a:lnSpc>
                          <a:spcPct val="115000"/>
                        </a:lnSpc>
                        <a:buNone/>
                      </a:pPr>
                      <a:r>
                        <a:rPr lang="en-IN" sz="1100" dirty="0" err="1">
                          <a:effectLst/>
                          <a:latin typeface="Arial" panose="020B0604020202020204" pitchFamily="34" charset="0"/>
                          <a:ea typeface="Arial" panose="020B0604020202020204" pitchFamily="34" charset="0"/>
                        </a:rPr>
                        <a:t>S.No</a:t>
                      </a:r>
                      <a:endParaRPr lang="en-IN" sz="1100" dirty="0">
                        <a:effectLst/>
                        <a:latin typeface="Arial" panose="020B0604020202020204" pitchFamily="34" charset="0"/>
                        <a:ea typeface="Arial" panose="020B0604020202020204" pitchFamily="34" charset="0"/>
                      </a:endParaRPr>
                    </a:p>
                  </a:txBody>
                  <a:tcPr marL="0" marR="152400" marT="101600" marB="101600"/>
                </a:tc>
                <a:tc>
                  <a:txBody>
                    <a:bodyPr/>
                    <a:lstStyle/>
                    <a:p>
                      <a:pPr algn="ctr">
                        <a:lnSpc>
                          <a:spcPct val="115000"/>
                        </a:lnSpc>
                        <a:buNone/>
                      </a:pPr>
                      <a:r>
                        <a:rPr lang="en-IN" sz="1100" dirty="0">
                          <a:effectLst/>
                          <a:latin typeface="Arial" panose="020B0604020202020204" pitchFamily="34" charset="0"/>
                          <a:ea typeface="Arial" panose="020B0604020202020204" pitchFamily="34" charset="0"/>
                        </a:rPr>
                        <a:t>Innovation</a:t>
                      </a:r>
                    </a:p>
                  </a:txBody>
                  <a:tcPr marL="152400" marR="152400" marT="101600" marB="101600"/>
                </a:tc>
                <a:tc>
                  <a:txBody>
                    <a:bodyPr/>
                    <a:lstStyle/>
                    <a:p>
                      <a:pPr algn="ctr">
                        <a:lnSpc>
                          <a:spcPct val="115000"/>
                        </a:lnSpc>
                        <a:buNone/>
                      </a:pPr>
                      <a:r>
                        <a:rPr lang="en-IN" sz="1100" dirty="0">
                          <a:effectLst/>
                          <a:latin typeface="Arial" panose="020B0604020202020204" pitchFamily="34" charset="0"/>
                          <a:ea typeface="Arial" panose="020B0604020202020204" pitchFamily="34" charset="0"/>
                        </a:rPr>
                        <a:t>Description</a:t>
                      </a:r>
                    </a:p>
                  </a:txBody>
                  <a:tcPr marL="152400" marR="152400" marT="101600" marB="101600"/>
                </a:tc>
                <a:extLst>
                  <a:ext uri="{0D108BD9-81ED-4DB2-BD59-A6C34878D82A}">
                    <a16:rowId xmlns:a16="http://schemas.microsoft.com/office/drawing/2014/main" val="512778808"/>
                  </a:ext>
                </a:extLst>
              </a:tr>
              <a:tr h="370840">
                <a:tc>
                  <a:txBody>
                    <a:bodyPr/>
                    <a:lstStyle/>
                    <a:p>
                      <a:pPr algn="ctr">
                        <a:lnSpc>
                          <a:spcPct val="115000"/>
                        </a:lnSpc>
                        <a:buNone/>
                      </a:pPr>
                      <a:r>
                        <a:rPr lang="en-IN" sz="1400" dirty="0">
                          <a:effectLst/>
                          <a:latin typeface="+mn-lt"/>
                          <a:ea typeface="Arial" panose="020B0604020202020204" pitchFamily="34" charset="0"/>
                        </a:rPr>
                        <a:t>1.</a:t>
                      </a:r>
                    </a:p>
                  </a:txBody>
                  <a:tcPr marL="0" marR="152400" marT="101600" marB="101600"/>
                </a:tc>
                <a:tc>
                  <a:txBody>
                    <a:bodyPr/>
                    <a:lstStyle/>
                    <a:p>
                      <a:pPr>
                        <a:lnSpc>
                          <a:spcPct val="115000"/>
                        </a:lnSpc>
                        <a:buNone/>
                      </a:pPr>
                      <a:r>
                        <a:rPr lang="en-IN" sz="1200" dirty="0">
                          <a:effectLst/>
                          <a:latin typeface="+mn-lt"/>
                          <a:ea typeface="Arial" panose="020B0604020202020204" pitchFamily="34" charset="0"/>
                        </a:rPr>
                        <a:t>Multi-Dataset Integration Pipeline</a:t>
                      </a:r>
                    </a:p>
                  </a:txBody>
                  <a:tcPr marL="152400" marR="152400" marT="101600" marB="101600"/>
                </a:tc>
                <a:tc>
                  <a:txBody>
                    <a:bodyPr/>
                    <a:lstStyle/>
                    <a:p>
                      <a:pPr>
                        <a:lnSpc>
                          <a:spcPct val="115000"/>
                        </a:lnSpc>
                        <a:buNone/>
                      </a:pPr>
                      <a:r>
                        <a:rPr lang="en-IN" sz="1200">
                          <a:effectLst/>
                          <a:latin typeface="+mn-lt"/>
                          <a:ea typeface="Arial" panose="020B0604020202020204" pitchFamily="34" charset="0"/>
                        </a:rPr>
                        <a:t>Integrating three benchmark datasets (UCI, xAPI, OULAD) into a unified preprocessing and analysis pipeline—rarely done in previous studies </a:t>
                      </a:r>
                    </a:p>
                  </a:txBody>
                  <a:tcPr marL="152400" marR="0" marT="101600" marB="101600"/>
                </a:tc>
                <a:extLst>
                  <a:ext uri="{0D108BD9-81ED-4DB2-BD59-A6C34878D82A}">
                    <a16:rowId xmlns:a16="http://schemas.microsoft.com/office/drawing/2014/main" val="1847746137"/>
                  </a:ext>
                </a:extLst>
              </a:tr>
              <a:tr h="370840">
                <a:tc>
                  <a:txBody>
                    <a:bodyPr/>
                    <a:lstStyle/>
                    <a:p>
                      <a:pPr algn="ctr">
                        <a:lnSpc>
                          <a:spcPct val="115000"/>
                        </a:lnSpc>
                        <a:buNone/>
                      </a:pPr>
                      <a:r>
                        <a:rPr lang="en-IN" sz="1400" dirty="0">
                          <a:effectLst/>
                          <a:latin typeface="+mn-lt"/>
                          <a:ea typeface="Arial" panose="020B0604020202020204" pitchFamily="34" charset="0"/>
                        </a:rPr>
                        <a:t>2.</a:t>
                      </a:r>
                    </a:p>
                  </a:txBody>
                  <a:tcPr marL="0" marR="152400" marT="101600" marB="101600"/>
                </a:tc>
                <a:tc>
                  <a:txBody>
                    <a:bodyPr/>
                    <a:lstStyle/>
                    <a:p>
                      <a:pPr>
                        <a:lnSpc>
                          <a:spcPct val="115000"/>
                        </a:lnSpc>
                        <a:buNone/>
                      </a:pPr>
                      <a:r>
                        <a:rPr lang="en-IN" sz="1200" dirty="0">
                          <a:effectLst/>
                          <a:latin typeface="+mn-lt"/>
                          <a:ea typeface="Arial" panose="020B0604020202020204" pitchFamily="34" charset="0"/>
                        </a:rPr>
                        <a:t>Comprehensive XAI Comparison Framework</a:t>
                      </a:r>
                    </a:p>
                  </a:txBody>
                  <a:tcPr marL="152400" marR="152400" marT="101600" marB="101600"/>
                </a:tc>
                <a:tc>
                  <a:txBody>
                    <a:bodyPr/>
                    <a:lstStyle/>
                    <a:p>
                      <a:pPr>
                        <a:lnSpc>
                          <a:spcPct val="115000"/>
                        </a:lnSpc>
                        <a:buNone/>
                      </a:pPr>
                      <a:r>
                        <a:rPr lang="en-IN" sz="1200" dirty="0">
                          <a:effectLst/>
                          <a:latin typeface="+mn-lt"/>
                          <a:ea typeface="Arial" panose="020B0604020202020204" pitchFamily="34" charset="0"/>
                        </a:rPr>
                        <a:t>Systematic side-by-side comparison of SHAP and LIME across 5 models using identical feature sets and evaluation criteria—addressing the gap identified by Carvalho et al. (2026) </a:t>
                      </a:r>
                    </a:p>
                  </a:txBody>
                  <a:tcPr marL="152400" marR="0" marT="101600" marB="101600"/>
                </a:tc>
                <a:extLst>
                  <a:ext uri="{0D108BD9-81ED-4DB2-BD59-A6C34878D82A}">
                    <a16:rowId xmlns:a16="http://schemas.microsoft.com/office/drawing/2014/main" val="1277782308"/>
                  </a:ext>
                </a:extLst>
              </a:tr>
              <a:tr h="370840">
                <a:tc>
                  <a:txBody>
                    <a:bodyPr/>
                    <a:lstStyle/>
                    <a:p>
                      <a:pPr algn="ctr">
                        <a:lnSpc>
                          <a:spcPct val="115000"/>
                        </a:lnSpc>
                        <a:buNone/>
                      </a:pPr>
                      <a:r>
                        <a:rPr lang="en-IN" sz="1400" dirty="0">
                          <a:effectLst/>
                          <a:latin typeface="+mn-lt"/>
                          <a:ea typeface="Arial" panose="020B0604020202020204" pitchFamily="34" charset="0"/>
                        </a:rPr>
                        <a:t>3.</a:t>
                      </a:r>
                    </a:p>
                  </a:txBody>
                  <a:tcPr marL="0" marR="152400" marT="101600" marB="101600"/>
                </a:tc>
                <a:tc>
                  <a:txBody>
                    <a:bodyPr/>
                    <a:lstStyle/>
                    <a:p>
                      <a:pPr>
                        <a:lnSpc>
                          <a:spcPct val="115000"/>
                        </a:lnSpc>
                        <a:buNone/>
                      </a:pPr>
                      <a:r>
                        <a:rPr lang="en-IN" sz="1200" dirty="0">
                          <a:effectLst/>
                          <a:latin typeface="+mn-lt"/>
                          <a:ea typeface="Arial" panose="020B0604020202020204" pitchFamily="34" charset="0"/>
                        </a:rPr>
                        <a:t>Feature-Level Interaction Analysis</a:t>
                      </a:r>
                    </a:p>
                  </a:txBody>
                  <a:tcPr marL="152400" marR="152400" marT="101600" marB="101600"/>
                </a:tc>
                <a:tc>
                  <a:txBody>
                    <a:bodyPr/>
                    <a:lstStyle/>
                    <a:p>
                      <a:pPr>
                        <a:lnSpc>
                          <a:spcPct val="115000"/>
                        </a:lnSpc>
                        <a:buNone/>
                      </a:pPr>
                      <a:r>
                        <a:rPr lang="en-IN" sz="1200" dirty="0">
                          <a:effectLst/>
                          <a:latin typeface="+mn-lt"/>
                          <a:ea typeface="Arial" panose="020B0604020202020204" pitchFamily="34" charset="0"/>
                        </a:rPr>
                        <a:t>Using SHAP dependence plots to reveal how features interact (e.g., attendance × GPA) in influencing predictions—beyond what previous studies have explored </a:t>
                      </a:r>
                    </a:p>
                  </a:txBody>
                  <a:tcPr marL="152400" marR="0" marT="101600" marB="101600"/>
                </a:tc>
                <a:extLst>
                  <a:ext uri="{0D108BD9-81ED-4DB2-BD59-A6C34878D82A}">
                    <a16:rowId xmlns:a16="http://schemas.microsoft.com/office/drawing/2014/main" val="3394696299"/>
                  </a:ext>
                </a:extLst>
              </a:tr>
              <a:tr h="370840">
                <a:tc>
                  <a:txBody>
                    <a:bodyPr/>
                    <a:lstStyle/>
                    <a:p>
                      <a:pPr algn="ctr">
                        <a:lnSpc>
                          <a:spcPct val="115000"/>
                        </a:lnSpc>
                        <a:buNone/>
                      </a:pPr>
                      <a:r>
                        <a:rPr lang="en-IN" sz="1400" dirty="0">
                          <a:effectLst/>
                          <a:latin typeface="+mn-lt"/>
                          <a:ea typeface="Arial" panose="020B0604020202020204" pitchFamily="34" charset="0"/>
                        </a:rPr>
                        <a:t>4.</a:t>
                      </a:r>
                    </a:p>
                  </a:txBody>
                  <a:tcPr marL="0" marR="152400" marT="101600" marB="101600"/>
                </a:tc>
                <a:tc>
                  <a:txBody>
                    <a:bodyPr/>
                    <a:lstStyle/>
                    <a:p>
                      <a:pPr>
                        <a:lnSpc>
                          <a:spcPct val="115000"/>
                        </a:lnSpc>
                        <a:buNone/>
                      </a:pPr>
                      <a:r>
                        <a:rPr lang="en-IN" sz="1200">
                          <a:effectLst/>
                          <a:latin typeface="+mn-lt"/>
                          <a:ea typeface="Arial" panose="020B0604020202020204" pitchFamily="34" charset="0"/>
                        </a:rPr>
                        <a:t>Explainability-Quantified Dashboard</a:t>
                      </a:r>
                    </a:p>
                  </a:txBody>
                  <a:tcPr marL="152400" marR="152400" marT="101600" marB="101600"/>
                </a:tc>
                <a:tc>
                  <a:txBody>
                    <a:bodyPr/>
                    <a:lstStyle/>
                    <a:p>
                      <a:pPr>
                        <a:lnSpc>
                          <a:spcPct val="115000"/>
                        </a:lnSpc>
                        <a:buNone/>
                      </a:pPr>
                      <a:r>
                        <a:rPr lang="en-IN" sz="1200" dirty="0">
                          <a:effectLst/>
                          <a:latin typeface="+mn-lt"/>
                          <a:ea typeface="Arial" panose="020B0604020202020204" pitchFamily="34" charset="0"/>
                        </a:rPr>
                        <a:t>Developing an interactive dashboard where explanations are paired with confidence metrics—addressing the gap in quantifiable explainability metrics identified by the IEEE SLR (2025) </a:t>
                      </a:r>
                    </a:p>
                  </a:txBody>
                  <a:tcPr marL="152400" marR="0" marT="101600" marB="101600"/>
                </a:tc>
                <a:extLst>
                  <a:ext uri="{0D108BD9-81ED-4DB2-BD59-A6C34878D82A}">
                    <a16:rowId xmlns:a16="http://schemas.microsoft.com/office/drawing/2014/main" val="2148094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5B127E-3467-AE12-B0C8-0B84C0E6350F}"/>
              </a:ext>
            </a:extLst>
          </p:cNvPr>
          <p:cNvPicPr>
            <a:picLocks noChangeAspect="1"/>
          </p:cNvPicPr>
          <p:nvPr/>
        </p:nvPicPr>
        <p:blipFill>
          <a:blip r:embed="rId2"/>
          <a:stretch>
            <a:fillRect/>
          </a:stretch>
        </p:blipFill>
        <p:spPr>
          <a:xfrm>
            <a:off x="2857500" y="0"/>
            <a:ext cx="3429000" cy="5143500"/>
          </a:xfrm>
          <a:prstGeom prst="rect">
            <a:avLst/>
          </a:prstGeom>
        </p:spPr>
      </p:pic>
    </p:spTree>
    <p:extLst>
      <p:ext uri="{BB962C8B-B14F-4D97-AF65-F5344CB8AC3E}">
        <p14:creationId xmlns:p14="http://schemas.microsoft.com/office/powerpoint/2010/main" val="3337970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456C41-6AD0-97E5-C9A6-26608A9FDCC5}"/>
              </a:ext>
            </a:extLst>
          </p:cNvPr>
          <p:cNvSpPr txBox="1"/>
          <p:nvPr/>
        </p:nvSpPr>
        <p:spPr>
          <a:xfrm>
            <a:off x="319314" y="223095"/>
            <a:ext cx="4572000" cy="504497"/>
          </a:xfrm>
          <a:prstGeom prst="rect">
            <a:avLst/>
          </a:prstGeom>
          <a:noFill/>
        </p:spPr>
        <p:txBody>
          <a:bodyPr wrap="square">
            <a:spAutoFit/>
          </a:bodyPr>
          <a:lstStyle/>
          <a:p>
            <a:pPr marL="0" indent="0" algn="l">
              <a:lnSpc>
                <a:spcPct val="104000"/>
              </a:lnSpc>
              <a:buNone/>
            </a:pPr>
            <a:r>
              <a:rPr lang="en-US" sz="2600" dirty="0">
                <a:solidFill>
                  <a:srgbClr val="312F2B"/>
                </a:solidFill>
                <a:latin typeface="Gelasio" pitchFamily="34" charset="0"/>
                <a:cs typeface="Gelasio" pitchFamily="34" charset="-120"/>
              </a:rPr>
              <a:t>Project Plan</a:t>
            </a:r>
            <a:endParaRPr lang="en-US" sz="2600" dirty="0"/>
          </a:p>
        </p:txBody>
      </p:sp>
      <p:sp>
        <p:nvSpPr>
          <p:cNvPr id="7" name="TextBox 6">
            <a:extLst>
              <a:ext uri="{FF2B5EF4-FFF2-40B4-BE49-F238E27FC236}">
                <a16:creationId xmlns:a16="http://schemas.microsoft.com/office/drawing/2014/main" id="{3D887D8E-FF16-A115-716F-E674DD160951}"/>
              </a:ext>
            </a:extLst>
          </p:cNvPr>
          <p:cNvSpPr txBox="1"/>
          <p:nvPr/>
        </p:nvSpPr>
        <p:spPr>
          <a:xfrm>
            <a:off x="442685" y="676492"/>
            <a:ext cx="8897258" cy="4087273"/>
          </a:xfrm>
          <a:prstGeom prst="rect">
            <a:avLst/>
          </a:prstGeom>
          <a:noFill/>
        </p:spPr>
        <p:txBody>
          <a:bodyPr wrap="square">
            <a:spAutoFit/>
          </a:bodyPr>
          <a:lstStyle/>
          <a:p>
            <a:pPr>
              <a:lnSpc>
                <a:spcPct val="115000"/>
              </a:lnSpc>
              <a:buNone/>
            </a:pPr>
            <a:r>
              <a:rPr lang="en-IN" sz="1100" b="1" dirty="0">
                <a:effectLst/>
                <a:latin typeface="Arial" panose="020B0604020202020204" pitchFamily="34" charset="0"/>
                <a:ea typeface="Arial" panose="020B0604020202020204" pitchFamily="34" charset="0"/>
              </a:rPr>
              <a:t>Phase 1: Data Collection &amp; Preprocessing</a:t>
            </a:r>
            <a:endParaRPr lang="en-IN" sz="1100" dirty="0">
              <a:effectLst/>
              <a:latin typeface="Arial" panose="020B0604020202020204" pitchFamily="34" charset="0"/>
              <a:ea typeface="Arial" panose="020B0604020202020204" pitchFamily="34" charset="0"/>
            </a:endParaRPr>
          </a:p>
          <a:p>
            <a:pPr marL="171450" indent="-171450">
              <a:lnSpc>
                <a:spcPct val="115000"/>
              </a:lnSpc>
              <a:buFont typeface="Arial" panose="020B0604020202020204" pitchFamily="34" charset="0"/>
              <a:buChar char="•"/>
            </a:pPr>
            <a:r>
              <a:rPr lang="en-IN" sz="1100" dirty="0">
                <a:latin typeface="Arial" panose="020B0604020202020204" pitchFamily="34" charset="0"/>
              </a:rPr>
              <a:t>Download and merge UCI, </a:t>
            </a:r>
            <a:r>
              <a:rPr lang="en-IN" sz="1100" dirty="0" err="1">
                <a:latin typeface="Arial" panose="020B0604020202020204" pitchFamily="34" charset="0"/>
              </a:rPr>
              <a:t>xAPI</a:t>
            </a:r>
            <a:r>
              <a:rPr lang="en-IN" sz="1100" dirty="0">
                <a:latin typeface="Arial" panose="020B0604020202020204" pitchFamily="34" charset="0"/>
              </a:rPr>
              <a:t>, OULAD datasets</a:t>
            </a:r>
          </a:p>
          <a:p>
            <a:pPr marL="171450" indent="-171450">
              <a:lnSpc>
                <a:spcPct val="115000"/>
              </a:lnSpc>
              <a:buFont typeface="Arial" panose="020B0604020202020204" pitchFamily="34" charset="0"/>
              <a:buChar char="•"/>
            </a:pPr>
            <a:r>
              <a:rPr lang="en-IN" sz="1100" dirty="0">
                <a:latin typeface="Arial" panose="020B0604020202020204" pitchFamily="34" charset="0"/>
              </a:rPr>
              <a:t>Handle missing values, encode categorical variables, normalize features</a:t>
            </a:r>
          </a:p>
          <a:p>
            <a:pPr marL="171450" indent="-171450">
              <a:lnSpc>
                <a:spcPct val="115000"/>
              </a:lnSpc>
              <a:buFont typeface="Arial" panose="020B0604020202020204" pitchFamily="34" charset="0"/>
              <a:buChar char="•"/>
            </a:pPr>
            <a:r>
              <a:rPr lang="en-IN" sz="1100" dirty="0">
                <a:latin typeface="Arial" panose="020B0604020202020204" pitchFamily="34" charset="0"/>
              </a:rPr>
              <a:t>Apply SMOTE for class imbalance</a:t>
            </a:r>
          </a:p>
          <a:p>
            <a:r>
              <a:rPr lang="en-IN" sz="1100" b="1" dirty="0">
                <a:latin typeface="Arial" panose="020B0604020202020204" pitchFamily="34" charset="0"/>
              </a:rPr>
              <a:t>Phase 2: Exploratory Data Analysis (EDA)</a:t>
            </a:r>
            <a:endParaRPr lang="en-IN" sz="1100" dirty="0">
              <a:latin typeface="Arial" panose="020B0604020202020204" pitchFamily="34" charset="0"/>
            </a:endParaRPr>
          </a:p>
          <a:p>
            <a:pPr marL="171450" lvl="0" indent="-171450">
              <a:buFont typeface="Arial" panose="020B0604020202020204" pitchFamily="34" charset="0"/>
              <a:buChar char="•"/>
            </a:pPr>
            <a:r>
              <a:rPr lang="en-IN" sz="1100" dirty="0">
                <a:latin typeface="Arial" panose="020B0604020202020204" pitchFamily="34" charset="0"/>
              </a:rPr>
              <a:t>Perform 12+ EDA techniques: dataset overview, descriptive statistics, missing value analysis, duplicate detection, outlier detection, univariate/bivariate/multivariate analysis, correlation analysis</a:t>
            </a:r>
          </a:p>
          <a:p>
            <a:r>
              <a:rPr lang="en-IN" sz="1100" b="1" dirty="0">
                <a:latin typeface="Arial" panose="020B0604020202020204" pitchFamily="34" charset="0"/>
              </a:rPr>
              <a:t>Phase 3: Feature Engineering &amp; Selection</a:t>
            </a:r>
            <a:endParaRPr lang="en-IN" sz="1100" dirty="0">
              <a:latin typeface="Arial" panose="020B0604020202020204" pitchFamily="34" charset="0"/>
            </a:endParaRPr>
          </a:p>
          <a:p>
            <a:pPr marL="171450" lvl="0" indent="-171450">
              <a:buFont typeface="Arial" panose="020B0604020202020204" pitchFamily="34" charset="0"/>
              <a:buChar char="•"/>
            </a:pPr>
            <a:r>
              <a:rPr lang="en-IN" sz="1100" dirty="0">
                <a:latin typeface="Arial" panose="020B0604020202020204" pitchFamily="34" charset="0"/>
              </a:rPr>
              <a:t>Create new features from existing data</a:t>
            </a:r>
          </a:p>
          <a:p>
            <a:pPr marL="171450" lvl="0" indent="-171450">
              <a:buFont typeface="Arial" panose="020B0604020202020204" pitchFamily="34" charset="0"/>
              <a:buChar char="•"/>
            </a:pPr>
            <a:r>
              <a:rPr lang="en-IN" sz="1100" dirty="0">
                <a:latin typeface="Arial" panose="020B0604020202020204" pitchFamily="34" charset="0"/>
              </a:rPr>
              <a:t>Select optimal features using correlation and importance ranking</a:t>
            </a:r>
          </a:p>
          <a:p>
            <a:r>
              <a:rPr lang="en-IN" sz="1100" b="1" dirty="0">
                <a:latin typeface="Arial" panose="020B0604020202020204" pitchFamily="34" charset="0"/>
              </a:rPr>
              <a:t>Phase 4: Model Training</a:t>
            </a:r>
            <a:endParaRPr lang="en-IN" sz="1100" dirty="0">
              <a:latin typeface="Arial" panose="020B0604020202020204" pitchFamily="34" charset="0"/>
            </a:endParaRPr>
          </a:p>
          <a:p>
            <a:pPr marL="171450" lvl="0" indent="-171450">
              <a:buFont typeface="Arial" panose="020B0604020202020204" pitchFamily="34" charset="0"/>
              <a:buChar char="•"/>
            </a:pPr>
            <a:r>
              <a:rPr lang="en-IN" sz="1100" dirty="0">
                <a:latin typeface="Arial" panose="020B0604020202020204" pitchFamily="34" charset="0"/>
              </a:rPr>
              <a:t>Train 5 models: Logistic Regression, Decision Tree, Random Forest, </a:t>
            </a:r>
            <a:r>
              <a:rPr lang="en-IN" sz="1100" dirty="0" err="1">
                <a:latin typeface="Arial" panose="020B0604020202020204" pitchFamily="34" charset="0"/>
              </a:rPr>
              <a:t>XGBoost</a:t>
            </a:r>
            <a:r>
              <a:rPr lang="en-IN" sz="1100" dirty="0">
                <a:latin typeface="Arial" panose="020B0604020202020204" pitchFamily="34" charset="0"/>
              </a:rPr>
              <a:t>, </a:t>
            </a:r>
            <a:r>
              <a:rPr lang="en-IN" sz="1100" dirty="0" err="1">
                <a:latin typeface="Arial" panose="020B0604020202020204" pitchFamily="34" charset="0"/>
              </a:rPr>
              <a:t>CatBoost</a:t>
            </a:r>
            <a:endParaRPr lang="en-IN" sz="1100" dirty="0">
              <a:latin typeface="Arial" panose="020B0604020202020204" pitchFamily="34" charset="0"/>
            </a:endParaRPr>
          </a:p>
          <a:p>
            <a:pPr marL="171450" lvl="0" indent="-171450">
              <a:buFont typeface="Arial" panose="020B0604020202020204" pitchFamily="34" charset="0"/>
              <a:buChar char="•"/>
            </a:pPr>
            <a:r>
              <a:rPr lang="en-IN" sz="1100" dirty="0">
                <a:latin typeface="Arial" panose="020B0604020202020204" pitchFamily="34" charset="0"/>
              </a:rPr>
              <a:t>Use 5-fold cross-validation and hyperparameter tuning</a:t>
            </a:r>
          </a:p>
          <a:p>
            <a:r>
              <a:rPr lang="en-IN" sz="1100" b="1" dirty="0">
                <a:latin typeface="Arial" panose="020B0604020202020204" pitchFamily="34" charset="0"/>
              </a:rPr>
              <a:t>Phase 5: Performance Evaluation</a:t>
            </a:r>
            <a:endParaRPr lang="en-IN" sz="1100" dirty="0">
              <a:latin typeface="Arial" panose="020B0604020202020204" pitchFamily="34" charset="0"/>
            </a:endParaRPr>
          </a:p>
          <a:p>
            <a:pPr lvl="0"/>
            <a:r>
              <a:rPr lang="en-IN" sz="1100" dirty="0">
                <a:latin typeface="Arial" panose="020B0604020202020204" pitchFamily="34" charset="0"/>
              </a:rPr>
              <a:t>Evaluate using Accuracy, Precision, Recall, F1-Score, ROC-AUC</a:t>
            </a:r>
          </a:p>
          <a:p>
            <a:pPr lvl="0"/>
            <a:r>
              <a:rPr lang="en-IN" sz="1100" dirty="0">
                <a:latin typeface="Arial" panose="020B0604020202020204" pitchFamily="34" charset="0"/>
              </a:rPr>
              <a:t>Apply Borda Count method for model ranking </a:t>
            </a:r>
          </a:p>
          <a:p>
            <a:r>
              <a:rPr lang="en-IN" sz="1100" b="1" dirty="0">
                <a:latin typeface="Arial" panose="020B0604020202020204" pitchFamily="34" charset="0"/>
              </a:rPr>
              <a:t>Phase 6: XAI Implementation</a:t>
            </a:r>
          </a:p>
          <a:p>
            <a:pPr marL="171450" lvl="0" indent="-171450">
              <a:buFont typeface="Arial" panose="020B0604020202020204" pitchFamily="34" charset="0"/>
              <a:buChar char="•"/>
            </a:pPr>
            <a:r>
              <a:rPr lang="en-IN" sz="1100" dirty="0">
                <a:latin typeface="Arial" panose="020B0604020202020204" pitchFamily="34" charset="0"/>
              </a:rPr>
              <a:t>Apply SHAP (global summary plots, force plots, dependence plots) across all models</a:t>
            </a:r>
          </a:p>
          <a:p>
            <a:pPr marL="171450" lvl="0" indent="-171450">
              <a:buFont typeface="Arial" panose="020B0604020202020204" pitchFamily="34" charset="0"/>
              <a:buChar char="•"/>
            </a:pPr>
            <a:r>
              <a:rPr lang="en-IN" sz="1100" dirty="0">
                <a:latin typeface="Arial" panose="020B0604020202020204" pitchFamily="34" charset="0"/>
              </a:rPr>
              <a:t>Apply LIME for local explanations on individual predictions</a:t>
            </a:r>
          </a:p>
          <a:p>
            <a:r>
              <a:rPr lang="en-IN" sz="1100" b="1" dirty="0">
                <a:latin typeface="Arial" panose="020B0604020202020204" pitchFamily="34" charset="0"/>
              </a:rPr>
              <a:t>Phase 7: Comparative Analysis &amp; Documentation</a:t>
            </a:r>
            <a:endParaRPr lang="en-IN" sz="1100" dirty="0">
              <a:latin typeface="Arial" panose="020B0604020202020204" pitchFamily="34" charset="0"/>
            </a:endParaRPr>
          </a:p>
          <a:p>
            <a:pPr marL="171450" lvl="0" indent="-171450">
              <a:buFont typeface="Arial" panose="020B0604020202020204" pitchFamily="34" charset="0"/>
              <a:buChar char="•"/>
            </a:pPr>
            <a:r>
              <a:rPr lang="en-IN" sz="1100" dirty="0">
                <a:latin typeface="Arial" panose="020B0604020202020204" pitchFamily="34" charset="0"/>
              </a:rPr>
              <a:t>Compare models on accuracy vs. interpretability trade-off</a:t>
            </a:r>
          </a:p>
          <a:p>
            <a:pPr marL="171450" lvl="0" indent="-171450">
              <a:buFont typeface="Arial" panose="020B0604020202020204" pitchFamily="34" charset="0"/>
              <a:buChar char="•"/>
            </a:pPr>
            <a:r>
              <a:rPr lang="en-IN" sz="1100" dirty="0">
                <a:latin typeface="Arial" panose="020B0604020202020204" pitchFamily="34" charset="0"/>
              </a:rPr>
              <a:t>Compare SHAP vs. LIME for explainability quality</a:t>
            </a:r>
          </a:p>
          <a:p>
            <a:pPr marL="171450" lvl="0" indent="-171450">
              <a:buFont typeface="Arial" panose="020B0604020202020204" pitchFamily="34" charset="0"/>
              <a:buChar char="•"/>
            </a:pPr>
            <a:r>
              <a:rPr lang="en-IN" sz="1100" dirty="0">
                <a:latin typeface="Arial" panose="020B0604020202020204" pitchFamily="34" charset="0"/>
              </a:rPr>
              <a:t>Document findings in comprehensive project report</a:t>
            </a:r>
          </a:p>
        </p:txBody>
      </p:sp>
    </p:spTree>
    <p:extLst>
      <p:ext uri="{BB962C8B-B14F-4D97-AF65-F5344CB8AC3E}">
        <p14:creationId xmlns:p14="http://schemas.microsoft.com/office/powerpoint/2010/main" val="9675251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1214</Words>
  <Application>Microsoft Office PowerPoint</Application>
  <PresentationFormat>On-screen Show (16:9)</PresentationFormat>
  <Paragraphs>129</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Gelasio</vt:lpstr>
      <vt:lpstr>Lato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Mokshita Naru</cp:lastModifiedBy>
  <cp:revision>6</cp:revision>
  <dcterms:created xsi:type="dcterms:W3CDTF">2026-08-08T05:05:23Z</dcterms:created>
  <dcterms:modified xsi:type="dcterms:W3CDTF">2026-08-08T08:04:07Z</dcterms:modified>
</cp:coreProperties>
</file>